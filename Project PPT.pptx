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0" r:id="rId15"/>
    <p:sldId id="268" r:id="rId16"/>
    <p:sldId id="269" r:id="rId17"/>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r>
              <a:rPr spc="-10" dirty="0"/>
              <a:t>REVIEW-</a:t>
            </a:r>
            <a:r>
              <a:rPr spc="-50" dirty="0"/>
              <a:t>4</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r>
              <a:rPr spc="-10" dirty="0"/>
              <a:t>REVIEW-</a:t>
            </a:r>
            <a:r>
              <a:rPr spc="-50" dirty="0"/>
              <a:t>4</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r>
              <a:rPr spc="-10" dirty="0"/>
              <a:t>REVIEW-</a:t>
            </a:r>
            <a:r>
              <a:rPr spc="-50" dirty="0"/>
              <a:t>4</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r>
              <a:rPr spc="-10" dirty="0"/>
              <a:t>REVIEW-</a:t>
            </a:r>
            <a:r>
              <a:rPr spc="-50" dirty="0"/>
              <a:t>4</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r>
              <a:rPr spc="-10" dirty="0"/>
              <a:t>REVIEW-</a:t>
            </a:r>
            <a:r>
              <a:rPr spc="-50" dirty="0"/>
              <a:t>4</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00171" y="3356228"/>
            <a:ext cx="2419985" cy="696595"/>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body" idx="1"/>
          </p:nvPr>
        </p:nvSpPr>
        <p:spPr>
          <a:xfrm>
            <a:off x="307340" y="1046226"/>
            <a:ext cx="8269605" cy="4236085"/>
          </a:xfrm>
          <a:prstGeom prst="rect">
            <a:avLst/>
          </a:prstGeom>
        </p:spPr>
        <p:txBody>
          <a:bodyPr wrap="square" lIns="0" tIns="0" rIns="0" bIns="0">
            <a:spAutoFit/>
          </a:bodyPr>
          <a:lstStyle>
            <a:lvl1pPr>
              <a:defRPr sz="18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647694" y="6464680"/>
            <a:ext cx="2916554"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r>
              <a:rPr spc="-10" dirty="0"/>
              <a:t>REVIEW-</a:t>
            </a:r>
            <a:r>
              <a:rPr spc="-50" dirty="0"/>
              <a:t>4</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4/1/2026</a:t>
            </a:fld>
            <a:endParaRPr lang="en-US"/>
          </a:p>
        </p:txBody>
      </p:sp>
      <p:sp>
        <p:nvSpPr>
          <p:cNvPr id="6" name="Holder 6"/>
          <p:cNvSpPr>
            <a:spLocks noGrp="1"/>
          </p:cNvSpPr>
          <p:nvPr>
            <p:ph type="sldNum" sz="quarter" idx="7"/>
          </p:nvPr>
        </p:nvSpPr>
        <p:spPr>
          <a:xfrm>
            <a:off x="8401557" y="6464680"/>
            <a:ext cx="24447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00" y="177228"/>
            <a:ext cx="8839200" cy="6477000"/>
          </a:xfrm>
          <a:custGeom>
            <a:avLst/>
            <a:gdLst/>
            <a:ahLst/>
            <a:cxnLst/>
            <a:rect l="l" t="t" r="r" b="b"/>
            <a:pathLst>
              <a:path w="8839200" h="6477000">
                <a:moveTo>
                  <a:pt x="0" y="6476999"/>
                </a:moveTo>
                <a:lnTo>
                  <a:pt x="8839200" y="6476999"/>
                </a:lnTo>
                <a:lnTo>
                  <a:pt x="8839200" y="0"/>
                </a:lnTo>
                <a:lnTo>
                  <a:pt x="0" y="0"/>
                </a:lnTo>
                <a:lnTo>
                  <a:pt x="0" y="6476999"/>
                </a:lnTo>
                <a:close/>
              </a:path>
            </a:pathLst>
          </a:custGeom>
          <a:ln w="25400">
            <a:solidFill>
              <a:srgbClr val="375F92"/>
            </a:solidFill>
          </a:ln>
        </p:spPr>
        <p:txBody>
          <a:bodyPr wrap="square" lIns="0" tIns="0" rIns="0" bIns="0" rtlCol="0"/>
          <a:lstStyle/>
          <a:p>
            <a:endParaRPr/>
          </a:p>
        </p:txBody>
      </p:sp>
      <p:sp>
        <p:nvSpPr>
          <p:cNvPr id="3" name="object 3"/>
          <p:cNvSpPr txBox="1"/>
          <p:nvPr/>
        </p:nvSpPr>
        <p:spPr>
          <a:xfrm>
            <a:off x="1383030" y="1136142"/>
            <a:ext cx="6387465" cy="360680"/>
          </a:xfrm>
          <a:prstGeom prst="rect">
            <a:avLst/>
          </a:prstGeom>
        </p:spPr>
        <p:txBody>
          <a:bodyPr vert="horz" wrap="square" lIns="0" tIns="12065" rIns="0" bIns="0" rtlCol="0">
            <a:spAutoFit/>
          </a:bodyPr>
          <a:lstStyle/>
          <a:p>
            <a:pPr marL="12700">
              <a:lnSpc>
                <a:spcPct val="100000"/>
              </a:lnSpc>
              <a:spcBef>
                <a:spcPts val="95"/>
              </a:spcBef>
            </a:pPr>
            <a:r>
              <a:rPr sz="2200" b="1" spc="-25" dirty="0">
                <a:solidFill>
                  <a:srgbClr val="FF0000"/>
                </a:solidFill>
                <a:latin typeface="Calibri"/>
                <a:cs typeface="Calibri"/>
              </a:rPr>
              <a:t>DEPARTMENT</a:t>
            </a:r>
            <a:r>
              <a:rPr sz="2200" b="1" spc="-30" dirty="0">
                <a:solidFill>
                  <a:srgbClr val="FF0000"/>
                </a:solidFill>
                <a:latin typeface="Calibri"/>
                <a:cs typeface="Calibri"/>
              </a:rPr>
              <a:t> </a:t>
            </a:r>
            <a:r>
              <a:rPr sz="2200" b="1" dirty="0">
                <a:solidFill>
                  <a:srgbClr val="FF0000"/>
                </a:solidFill>
                <a:latin typeface="Calibri"/>
                <a:cs typeface="Calibri"/>
              </a:rPr>
              <a:t>OF</a:t>
            </a:r>
            <a:r>
              <a:rPr sz="2200" b="1" spc="-50" dirty="0">
                <a:solidFill>
                  <a:srgbClr val="FF0000"/>
                </a:solidFill>
                <a:latin typeface="Calibri"/>
                <a:cs typeface="Calibri"/>
              </a:rPr>
              <a:t> </a:t>
            </a:r>
            <a:r>
              <a:rPr sz="2200" b="1" dirty="0">
                <a:solidFill>
                  <a:srgbClr val="FF0000"/>
                </a:solidFill>
                <a:latin typeface="Calibri"/>
                <a:cs typeface="Calibri"/>
              </a:rPr>
              <a:t>COMPUTER</a:t>
            </a:r>
            <a:r>
              <a:rPr sz="2200" b="1" spc="-35" dirty="0">
                <a:solidFill>
                  <a:srgbClr val="FF0000"/>
                </a:solidFill>
                <a:latin typeface="Calibri"/>
                <a:cs typeface="Calibri"/>
              </a:rPr>
              <a:t> </a:t>
            </a:r>
            <a:r>
              <a:rPr sz="2200" b="1" dirty="0">
                <a:solidFill>
                  <a:srgbClr val="FF0000"/>
                </a:solidFill>
                <a:latin typeface="Calibri"/>
                <a:cs typeface="Calibri"/>
              </a:rPr>
              <a:t>SCIENCE</a:t>
            </a:r>
            <a:r>
              <a:rPr sz="2200" b="1" spc="-45" dirty="0">
                <a:solidFill>
                  <a:srgbClr val="FF0000"/>
                </a:solidFill>
                <a:latin typeface="Calibri"/>
                <a:cs typeface="Calibri"/>
              </a:rPr>
              <a:t> </a:t>
            </a:r>
            <a:r>
              <a:rPr sz="2200" b="1" dirty="0">
                <a:solidFill>
                  <a:srgbClr val="FF0000"/>
                </a:solidFill>
                <a:latin typeface="Calibri"/>
                <a:cs typeface="Calibri"/>
              </a:rPr>
              <a:t>&amp;</a:t>
            </a:r>
            <a:r>
              <a:rPr sz="2200" b="1" spc="-55" dirty="0">
                <a:solidFill>
                  <a:srgbClr val="FF0000"/>
                </a:solidFill>
                <a:latin typeface="Calibri"/>
                <a:cs typeface="Calibri"/>
              </a:rPr>
              <a:t> </a:t>
            </a:r>
            <a:r>
              <a:rPr sz="2200" b="1" spc="-10" dirty="0">
                <a:solidFill>
                  <a:srgbClr val="FF0000"/>
                </a:solidFill>
                <a:latin typeface="Calibri"/>
                <a:cs typeface="Calibri"/>
              </a:rPr>
              <a:t>ENGINEERING</a:t>
            </a:r>
            <a:endParaRPr sz="2200">
              <a:latin typeface="Calibri"/>
              <a:cs typeface="Calibri"/>
            </a:endParaRPr>
          </a:p>
        </p:txBody>
      </p:sp>
      <p:sp>
        <p:nvSpPr>
          <p:cNvPr id="4" name="object 4"/>
          <p:cNvSpPr txBox="1"/>
          <p:nvPr/>
        </p:nvSpPr>
        <p:spPr>
          <a:xfrm>
            <a:off x="228600" y="5181600"/>
            <a:ext cx="8686800" cy="1371600"/>
          </a:xfrm>
          <a:prstGeom prst="rect">
            <a:avLst/>
          </a:prstGeom>
          <a:ln w="25400">
            <a:solidFill>
              <a:srgbClr val="375F92"/>
            </a:solidFill>
          </a:ln>
        </p:spPr>
        <p:txBody>
          <a:bodyPr vert="horz" wrap="square" lIns="0" tIns="0" rIns="0" bIns="0" rtlCol="0">
            <a:spAutoFit/>
          </a:bodyPr>
          <a:lstStyle/>
          <a:p>
            <a:pPr algn="ctr">
              <a:lnSpc>
                <a:spcPts val="2760"/>
              </a:lnSpc>
            </a:pPr>
            <a:r>
              <a:rPr sz="2600" b="1" u="sng" dirty="0">
                <a:solidFill>
                  <a:srgbClr val="FF0000"/>
                </a:solidFill>
                <a:uFill>
                  <a:solidFill>
                    <a:srgbClr val="FF0000"/>
                  </a:solidFill>
                </a:uFill>
                <a:latin typeface="Calibri"/>
                <a:cs typeface="Calibri"/>
              </a:rPr>
              <a:t>Guide</a:t>
            </a:r>
            <a:r>
              <a:rPr sz="2600" b="1" u="sng" spc="-70" dirty="0">
                <a:solidFill>
                  <a:srgbClr val="FF0000"/>
                </a:solidFill>
                <a:uFill>
                  <a:solidFill>
                    <a:srgbClr val="FF0000"/>
                  </a:solidFill>
                </a:uFill>
                <a:latin typeface="Calibri"/>
                <a:cs typeface="Calibri"/>
              </a:rPr>
              <a:t> </a:t>
            </a:r>
            <a:r>
              <a:rPr sz="2600" b="1" u="sng" spc="-10" dirty="0">
                <a:solidFill>
                  <a:srgbClr val="FF0000"/>
                </a:solidFill>
                <a:uFill>
                  <a:solidFill>
                    <a:srgbClr val="FF0000"/>
                  </a:solidFill>
                </a:uFill>
                <a:latin typeface="Calibri"/>
                <a:cs typeface="Calibri"/>
              </a:rPr>
              <a:t>Details</a:t>
            </a:r>
            <a:endParaRPr sz="2600">
              <a:latin typeface="Calibri"/>
              <a:cs typeface="Calibri"/>
            </a:endParaRPr>
          </a:p>
          <a:p>
            <a:pPr algn="ctr">
              <a:lnSpc>
                <a:spcPct val="100000"/>
              </a:lnSpc>
              <a:spcBef>
                <a:spcPts val="10"/>
              </a:spcBef>
            </a:pPr>
            <a:r>
              <a:rPr sz="2300" b="1" spc="-20" dirty="0">
                <a:solidFill>
                  <a:srgbClr val="001F5F"/>
                </a:solidFill>
                <a:latin typeface="Calibri"/>
                <a:cs typeface="Calibri"/>
              </a:rPr>
              <a:t>Dr.S.Srinivas</a:t>
            </a:r>
            <a:r>
              <a:rPr sz="2300" b="1" spc="-35" dirty="0">
                <a:solidFill>
                  <a:srgbClr val="001F5F"/>
                </a:solidFill>
                <a:latin typeface="Calibri"/>
                <a:cs typeface="Calibri"/>
              </a:rPr>
              <a:t> </a:t>
            </a:r>
            <a:r>
              <a:rPr sz="2300" b="1" spc="-10" dirty="0">
                <a:solidFill>
                  <a:srgbClr val="001F5F"/>
                </a:solidFill>
                <a:latin typeface="Calibri"/>
                <a:cs typeface="Calibri"/>
              </a:rPr>
              <a:t>Reddy</a:t>
            </a:r>
            <a:endParaRPr sz="2300">
              <a:latin typeface="Calibri"/>
              <a:cs typeface="Calibri"/>
            </a:endParaRPr>
          </a:p>
          <a:p>
            <a:pPr marL="3493135" marR="3487420" algn="ctr">
              <a:lnSpc>
                <a:spcPct val="100000"/>
              </a:lnSpc>
              <a:spcBef>
                <a:spcPts val="25"/>
              </a:spcBef>
            </a:pPr>
            <a:r>
              <a:rPr sz="1700" b="1" spc="-10" dirty="0">
                <a:solidFill>
                  <a:srgbClr val="001F5F"/>
                </a:solidFill>
                <a:latin typeface="Calibri"/>
                <a:cs typeface="Calibri"/>
              </a:rPr>
              <a:t>Assistant Professor </a:t>
            </a:r>
            <a:r>
              <a:rPr sz="1700" b="1" dirty="0">
                <a:solidFill>
                  <a:srgbClr val="001F5F"/>
                </a:solidFill>
                <a:latin typeface="Calibri"/>
                <a:cs typeface="Calibri"/>
              </a:rPr>
              <a:t>Department</a:t>
            </a:r>
            <a:r>
              <a:rPr sz="1700" b="1" spc="-55" dirty="0">
                <a:solidFill>
                  <a:srgbClr val="001F5F"/>
                </a:solidFill>
                <a:latin typeface="Calibri"/>
                <a:cs typeface="Calibri"/>
              </a:rPr>
              <a:t> </a:t>
            </a:r>
            <a:r>
              <a:rPr sz="1700" b="1" dirty="0">
                <a:solidFill>
                  <a:srgbClr val="001F5F"/>
                </a:solidFill>
                <a:latin typeface="Calibri"/>
                <a:cs typeface="Calibri"/>
              </a:rPr>
              <a:t>of</a:t>
            </a:r>
            <a:r>
              <a:rPr sz="1700" b="1" spc="-40" dirty="0">
                <a:solidFill>
                  <a:srgbClr val="001F5F"/>
                </a:solidFill>
                <a:latin typeface="Calibri"/>
                <a:cs typeface="Calibri"/>
              </a:rPr>
              <a:t> </a:t>
            </a:r>
            <a:r>
              <a:rPr sz="1700" b="1" spc="-25" dirty="0">
                <a:solidFill>
                  <a:srgbClr val="001F5F"/>
                </a:solidFill>
                <a:latin typeface="Calibri"/>
                <a:cs typeface="Calibri"/>
              </a:rPr>
              <a:t>CSE</a:t>
            </a:r>
            <a:endParaRPr sz="1700">
              <a:latin typeface="Calibri"/>
              <a:cs typeface="Calibri"/>
            </a:endParaRPr>
          </a:p>
        </p:txBody>
      </p:sp>
      <p:sp>
        <p:nvSpPr>
          <p:cNvPr id="5" name="object 5"/>
          <p:cNvSpPr txBox="1"/>
          <p:nvPr/>
        </p:nvSpPr>
        <p:spPr>
          <a:xfrm>
            <a:off x="2743200" y="2286000"/>
            <a:ext cx="3657600" cy="533400"/>
          </a:xfrm>
          <a:prstGeom prst="rect">
            <a:avLst/>
          </a:prstGeom>
          <a:ln w="25400">
            <a:solidFill>
              <a:srgbClr val="4F81BC"/>
            </a:solidFill>
          </a:ln>
        </p:spPr>
        <p:txBody>
          <a:bodyPr vert="horz" wrap="square" lIns="0" tIns="64135" rIns="0" bIns="0" rtlCol="0">
            <a:spAutoFit/>
          </a:bodyPr>
          <a:lstStyle/>
          <a:p>
            <a:pPr marL="342265">
              <a:lnSpc>
                <a:spcPct val="100000"/>
              </a:lnSpc>
              <a:spcBef>
                <a:spcPts val="505"/>
              </a:spcBef>
            </a:pPr>
            <a:r>
              <a:rPr sz="2400" b="1" spc="-55" dirty="0">
                <a:latin typeface="Calibri"/>
                <a:cs typeface="Calibri"/>
              </a:rPr>
              <a:t>BATCH</a:t>
            </a:r>
            <a:r>
              <a:rPr sz="2400" b="1" dirty="0">
                <a:latin typeface="Calibri"/>
                <a:cs typeface="Calibri"/>
              </a:rPr>
              <a:t> ID</a:t>
            </a:r>
            <a:r>
              <a:rPr sz="2400" b="1" spc="-10" dirty="0">
                <a:latin typeface="Calibri"/>
                <a:cs typeface="Calibri"/>
              </a:rPr>
              <a:t> </a:t>
            </a:r>
            <a:r>
              <a:rPr sz="2400" b="1" dirty="0">
                <a:latin typeface="Calibri"/>
                <a:cs typeface="Calibri"/>
              </a:rPr>
              <a:t>:</a:t>
            </a:r>
            <a:r>
              <a:rPr sz="2400" b="1" spc="-5" dirty="0">
                <a:latin typeface="Calibri"/>
                <a:cs typeface="Calibri"/>
              </a:rPr>
              <a:t> </a:t>
            </a:r>
            <a:r>
              <a:rPr sz="2400" b="1" spc="-20" dirty="0">
                <a:latin typeface="Calibri"/>
                <a:cs typeface="Calibri"/>
              </a:rPr>
              <a:t>23MPCS-</a:t>
            </a:r>
            <a:r>
              <a:rPr sz="2400" b="1" spc="-25" dirty="0">
                <a:latin typeface="Calibri"/>
                <a:cs typeface="Calibri"/>
              </a:rPr>
              <a:t>F11</a:t>
            </a:r>
            <a:endParaRPr sz="2400">
              <a:latin typeface="Calibri"/>
              <a:cs typeface="Calibri"/>
            </a:endParaRPr>
          </a:p>
        </p:txBody>
      </p:sp>
      <p:sp>
        <p:nvSpPr>
          <p:cNvPr id="6" name="object 6"/>
          <p:cNvSpPr txBox="1"/>
          <p:nvPr/>
        </p:nvSpPr>
        <p:spPr>
          <a:xfrm>
            <a:off x="304800" y="1524000"/>
            <a:ext cx="8610600" cy="609600"/>
          </a:xfrm>
          <a:prstGeom prst="rect">
            <a:avLst/>
          </a:prstGeom>
          <a:solidFill>
            <a:srgbClr val="B8CDE4"/>
          </a:solidFill>
          <a:ln w="25400">
            <a:solidFill>
              <a:srgbClr val="375F92"/>
            </a:solidFill>
          </a:ln>
        </p:spPr>
        <p:txBody>
          <a:bodyPr vert="horz" wrap="square" lIns="0" tIns="0" rIns="0" bIns="0" rtlCol="0">
            <a:spAutoFit/>
          </a:bodyPr>
          <a:lstStyle/>
          <a:p>
            <a:pPr algn="ctr">
              <a:lnSpc>
                <a:spcPts val="2060"/>
              </a:lnSpc>
            </a:pPr>
            <a:r>
              <a:rPr sz="2000" b="1" dirty="0">
                <a:latin typeface="Calibri"/>
                <a:cs typeface="Calibri"/>
              </a:rPr>
              <a:t>Title:</a:t>
            </a:r>
            <a:r>
              <a:rPr sz="2000" b="1" spc="-50" dirty="0">
                <a:latin typeface="Calibri"/>
                <a:cs typeface="Calibri"/>
              </a:rPr>
              <a:t> </a:t>
            </a:r>
            <a:r>
              <a:rPr sz="2000" b="1" spc="-10" dirty="0">
                <a:latin typeface="Calibri"/>
                <a:cs typeface="Calibri"/>
              </a:rPr>
              <a:t>AI-</a:t>
            </a:r>
            <a:r>
              <a:rPr sz="2000" b="1" dirty="0">
                <a:latin typeface="Calibri"/>
                <a:cs typeface="Calibri"/>
              </a:rPr>
              <a:t>ENABLED</a:t>
            </a:r>
            <a:r>
              <a:rPr sz="2000" b="1" spc="-40" dirty="0">
                <a:latin typeface="Calibri"/>
                <a:cs typeface="Calibri"/>
              </a:rPr>
              <a:t> </a:t>
            </a:r>
            <a:r>
              <a:rPr sz="2000" b="1" dirty="0">
                <a:latin typeface="Calibri"/>
                <a:cs typeface="Calibri"/>
              </a:rPr>
              <a:t>RISK</a:t>
            </a:r>
            <a:r>
              <a:rPr sz="2000" b="1" spc="-25" dirty="0">
                <a:latin typeface="Calibri"/>
                <a:cs typeface="Calibri"/>
              </a:rPr>
              <a:t> </a:t>
            </a:r>
            <a:r>
              <a:rPr sz="2000" b="1" dirty="0">
                <a:latin typeface="Calibri"/>
                <a:cs typeface="Calibri"/>
              </a:rPr>
              <a:t>SCORING</a:t>
            </a:r>
            <a:r>
              <a:rPr sz="2000" b="1" spc="-50" dirty="0">
                <a:latin typeface="Calibri"/>
                <a:cs typeface="Calibri"/>
              </a:rPr>
              <a:t> </a:t>
            </a:r>
            <a:r>
              <a:rPr sz="2000" b="1" spc="-10" dirty="0">
                <a:latin typeface="Calibri"/>
                <a:cs typeface="Calibri"/>
              </a:rPr>
              <a:t>SYSTEM</a:t>
            </a:r>
            <a:r>
              <a:rPr sz="2000" b="1" spc="-35" dirty="0">
                <a:latin typeface="Calibri"/>
                <a:cs typeface="Calibri"/>
              </a:rPr>
              <a:t> </a:t>
            </a:r>
            <a:r>
              <a:rPr sz="2000" b="1" dirty="0">
                <a:latin typeface="Calibri"/>
                <a:cs typeface="Calibri"/>
              </a:rPr>
              <a:t>FOR</a:t>
            </a:r>
            <a:r>
              <a:rPr sz="2000" b="1" spc="-60" dirty="0">
                <a:latin typeface="Calibri"/>
                <a:cs typeface="Calibri"/>
              </a:rPr>
              <a:t> </a:t>
            </a:r>
            <a:r>
              <a:rPr sz="2000" b="1" spc="-30" dirty="0">
                <a:latin typeface="Calibri"/>
                <a:cs typeface="Calibri"/>
              </a:rPr>
              <a:t>AUTOMATED</a:t>
            </a:r>
            <a:r>
              <a:rPr sz="2000" b="1" spc="-65" dirty="0">
                <a:latin typeface="Calibri"/>
                <a:cs typeface="Calibri"/>
              </a:rPr>
              <a:t> </a:t>
            </a:r>
            <a:r>
              <a:rPr sz="2000" b="1" dirty="0">
                <a:latin typeface="Calibri"/>
                <a:cs typeface="Calibri"/>
              </a:rPr>
              <a:t>DETECTION</a:t>
            </a:r>
            <a:r>
              <a:rPr sz="2000" b="1" spc="-45" dirty="0">
                <a:latin typeface="Calibri"/>
                <a:cs typeface="Calibri"/>
              </a:rPr>
              <a:t> </a:t>
            </a:r>
            <a:r>
              <a:rPr sz="2000" b="1" spc="-25" dirty="0">
                <a:latin typeface="Calibri"/>
                <a:cs typeface="Calibri"/>
              </a:rPr>
              <a:t>OF</a:t>
            </a:r>
            <a:endParaRPr sz="2000">
              <a:latin typeface="Calibri"/>
              <a:cs typeface="Calibri"/>
            </a:endParaRPr>
          </a:p>
          <a:p>
            <a:pPr marL="635" algn="ctr">
              <a:lnSpc>
                <a:spcPts val="2160"/>
              </a:lnSpc>
            </a:pPr>
            <a:r>
              <a:rPr sz="2000" b="1" dirty="0">
                <a:latin typeface="Calibri"/>
                <a:cs typeface="Calibri"/>
              </a:rPr>
              <a:t>SCAM</a:t>
            </a:r>
            <a:r>
              <a:rPr sz="2000" b="1" spc="-25" dirty="0">
                <a:latin typeface="Calibri"/>
                <a:cs typeface="Calibri"/>
              </a:rPr>
              <a:t> </a:t>
            </a:r>
            <a:r>
              <a:rPr sz="2000" b="1" dirty="0">
                <a:latin typeface="Calibri"/>
                <a:cs typeface="Calibri"/>
              </a:rPr>
              <a:t>JOB</a:t>
            </a:r>
            <a:r>
              <a:rPr sz="2000" b="1" spc="-35" dirty="0">
                <a:latin typeface="Calibri"/>
                <a:cs typeface="Calibri"/>
              </a:rPr>
              <a:t> </a:t>
            </a:r>
            <a:r>
              <a:rPr sz="2000" b="1" spc="-10" dirty="0">
                <a:latin typeface="Calibri"/>
                <a:cs typeface="Calibri"/>
              </a:rPr>
              <a:t>ADVERTISEMENTS</a:t>
            </a:r>
            <a:endParaRPr sz="2000">
              <a:latin typeface="Calibri"/>
              <a:cs typeface="Calibri"/>
            </a:endParaRPr>
          </a:p>
        </p:txBody>
      </p:sp>
      <p:graphicFrame>
        <p:nvGraphicFramePr>
          <p:cNvPr id="7" name="object 7"/>
          <p:cNvGraphicFramePr>
            <a:graphicFrameLocks noGrp="1"/>
          </p:cNvGraphicFramePr>
          <p:nvPr>
            <p:extLst>
              <p:ext uri="{D42A27DB-BD31-4B8C-83A1-F6EECF244321}">
                <p14:modId xmlns:p14="http://schemas.microsoft.com/office/powerpoint/2010/main" val="879487444"/>
              </p:ext>
            </p:extLst>
          </p:nvPr>
        </p:nvGraphicFramePr>
        <p:xfrm>
          <a:off x="1212850" y="2965450"/>
          <a:ext cx="6934834" cy="1583690"/>
        </p:xfrm>
        <a:graphic>
          <a:graphicData uri="http://schemas.openxmlformats.org/drawingml/2006/table">
            <a:tbl>
              <a:tblPr firstRow="1" bandRow="1">
                <a:tableStyleId>{2D5ABB26-0587-4C30-8999-92F81FD0307C}</a:tableStyleId>
              </a:tblPr>
              <a:tblGrid>
                <a:gridCol w="780415">
                  <a:extLst>
                    <a:ext uri="{9D8B030D-6E8A-4147-A177-3AD203B41FA5}">
                      <a16:colId xmlns:a16="http://schemas.microsoft.com/office/drawing/2014/main" val="20000"/>
                    </a:ext>
                  </a:extLst>
                </a:gridCol>
                <a:gridCol w="1839595">
                  <a:extLst>
                    <a:ext uri="{9D8B030D-6E8A-4147-A177-3AD203B41FA5}">
                      <a16:colId xmlns:a16="http://schemas.microsoft.com/office/drawing/2014/main" val="20001"/>
                    </a:ext>
                  </a:extLst>
                </a:gridCol>
                <a:gridCol w="4314824">
                  <a:extLst>
                    <a:ext uri="{9D8B030D-6E8A-4147-A177-3AD203B41FA5}">
                      <a16:colId xmlns:a16="http://schemas.microsoft.com/office/drawing/2014/main" val="20002"/>
                    </a:ext>
                  </a:extLst>
                </a:gridCol>
              </a:tblGrid>
              <a:tr h="395605">
                <a:tc>
                  <a:txBody>
                    <a:bodyPr/>
                    <a:lstStyle/>
                    <a:p>
                      <a:pPr marL="114300">
                        <a:lnSpc>
                          <a:spcPct val="100000"/>
                        </a:lnSpc>
                        <a:spcBef>
                          <a:spcPts val="235"/>
                        </a:spcBef>
                      </a:pPr>
                      <a:r>
                        <a:rPr sz="2000" b="1" dirty="0">
                          <a:solidFill>
                            <a:srgbClr val="FFFFFF"/>
                          </a:solidFill>
                          <a:latin typeface="Calibri"/>
                          <a:cs typeface="Calibri"/>
                        </a:rPr>
                        <a:t>S.</a:t>
                      </a:r>
                      <a:r>
                        <a:rPr sz="2000" b="1" spc="-20" dirty="0">
                          <a:solidFill>
                            <a:srgbClr val="FFFFFF"/>
                          </a:solidFill>
                          <a:latin typeface="Calibri"/>
                          <a:cs typeface="Calibri"/>
                        </a:rPr>
                        <a:t> </a:t>
                      </a:r>
                      <a:r>
                        <a:rPr sz="2000" b="1" spc="-25" dirty="0">
                          <a:solidFill>
                            <a:srgbClr val="FFFFFF"/>
                          </a:solidFill>
                          <a:latin typeface="Calibri"/>
                          <a:cs typeface="Calibri"/>
                        </a:rPr>
                        <a:t>No</a:t>
                      </a:r>
                      <a:endParaRPr sz="20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tc>
                  <a:txBody>
                    <a:bodyPr/>
                    <a:lstStyle/>
                    <a:p>
                      <a:pPr marL="504825">
                        <a:lnSpc>
                          <a:spcPct val="100000"/>
                        </a:lnSpc>
                        <a:spcBef>
                          <a:spcPts val="235"/>
                        </a:spcBef>
                      </a:pPr>
                      <a:r>
                        <a:rPr sz="2000" b="1" dirty="0">
                          <a:solidFill>
                            <a:srgbClr val="FFFFFF"/>
                          </a:solidFill>
                          <a:latin typeface="Calibri"/>
                          <a:cs typeface="Calibri"/>
                        </a:rPr>
                        <a:t>Roll.</a:t>
                      </a:r>
                      <a:r>
                        <a:rPr sz="2000" b="1" spc="-85" dirty="0">
                          <a:solidFill>
                            <a:srgbClr val="FFFFFF"/>
                          </a:solidFill>
                          <a:latin typeface="Calibri"/>
                          <a:cs typeface="Calibri"/>
                        </a:rPr>
                        <a:t> </a:t>
                      </a:r>
                      <a:r>
                        <a:rPr sz="2000" b="1" spc="-35" dirty="0">
                          <a:solidFill>
                            <a:srgbClr val="FFFFFF"/>
                          </a:solidFill>
                          <a:latin typeface="Calibri"/>
                          <a:cs typeface="Calibri"/>
                        </a:rPr>
                        <a:t>No</a:t>
                      </a:r>
                      <a:endParaRPr sz="20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tc>
                  <a:txBody>
                    <a:bodyPr/>
                    <a:lstStyle/>
                    <a:p>
                      <a:pPr algn="ctr">
                        <a:lnSpc>
                          <a:spcPct val="100000"/>
                        </a:lnSpc>
                        <a:spcBef>
                          <a:spcPts val="235"/>
                        </a:spcBef>
                      </a:pPr>
                      <a:r>
                        <a:rPr sz="2000" b="1" dirty="0">
                          <a:solidFill>
                            <a:srgbClr val="FFFFFF"/>
                          </a:solidFill>
                          <a:latin typeface="Calibri"/>
                          <a:cs typeface="Calibri"/>
                        </a:rPr>
                        <a:t>Student</a:t>
                      </a:r>
                      <a:r>
                        <a:rPr sz="2000" b="1" spc="-50" dirty="0">
                          <a:solidFill>
                            <a:srgbClr val="FFFFFF"/>
                          </a:solidFill>
                          <a:latin typeface="Calibri"/>
                          <a:cs typeface="Calibri"/>
                        </a:rPr>
                        <a:t> </a:t>
                      </a:r>
                      <a:r>
                        <a:rPr sz="2000" b="1" spc="-20" dirty="0">
                          <a:solidFill>
                            <a:srgbClr val="FFFFFF"/>
                          </a:solidFill>
                          <a:latin typeface="Calibri"/>
                          <a:cs typeface="Calibri"/>
                        </a:rPr>
                        <a:t>Name</a:t>
                      </a:r>
                      <a:endParaRPr sz="20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extLst>
                  <a:ext uri="{0D108BD9-81ED-4DB2-BD59-A6C34878D82A}">
                    <a16:rowId xmlns:a16="http://schemas.microsoft.com/office/drawing/2014/main" val="10000"/>
                  </a:ext>
                </a:extLst>
              </a:tr>
              <a:tr h="396240">
                <a:tc>
                  <a:txBody>
                    <a:bodyPr/>
                    <a:lstStyle/>
                    <a:p>
                      <a:pPr algn="ctr">
                        <a:lnSpc>
                          <a:spcPct val="100000"/>
                        </a:lnSpc>
                        <a:spcBef>
                          <a:spcPts val="235"/>
                        </a:spcBef>
                      </a:pPr>
                      <a:r>
                        <a:rPr sz="2000" b="1" spc="-50" dirty="0">
                          <a:latin typeface="Calibri"/>
                          <a:cs typeface="Calibri"/>
                        </a:rPr>
                        <a:t>1</a:t>
                      </a:r>
                      <a:endParaRPr sz="20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7D2DF"/>
                    </a:solidFill>
                  </a:tcPr>
                </a:tc>
                <a:tc>
                  <a:txBody>
                    <a:bodyPr/>
                    <a:lstStyle/>
                    <a:p>
                      <a:pPr marL="91440">
                        <a:lnSpc>
                          <a:spcPct val="100000"/>
                        </a:lnSpc>
                        <a:spcBef>
                          <a:spcPts val="235"/>
                        </a:spcBef>
                      </a:pPr>
                      <a:r>
                        <a:rPr sz="2000" b="1" spc="-10" dirty="0">
                          <a:latin typeface="Calibri"/>
                          <a:cs typeface="Calibri"/>
                        </a:rPr>
                        <a:t>23881A05AB</a:t>
                      </a:r>
                      <a:endParaRPr sz="20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7D2DF"/>
                    </a:solidFill>
                  </a:tcPr>
                </a:tc>
                <a:tc>
                  <a:txBody>
                    <a:bodyPr/>
                    <a:lstStyle/>
                    <a:p>
                      <a:pPr marL="91440">
                        <a:lnSpc>
                          <a:spcPct val="100000"/>
                        </a:lnSpc>
                        <a:spcBef>
                          <a:spcPts val="235"/>
                        </a:spcBef>
                      </a:pPr>
                      <a:r>
                        <a:rPr sz="2000" b="1" dirty="0">
                          <a:latin typeface="Calibri"/>
                          <a:cs typeface="Calibri"/>
                        </a:rPr>
                        <a:t>K.</a:t>
                      </a:r>
                      <a:r>
                        <a:rPr lang="en-IN" sz="2000" b="1" dirty="0">
                          <a:latin typeface="Calibri"/>
                          <a:cs typeface="Calibri"/>
                        </a:rPr>
                        <a:t> </a:t>
                      </a:r>
                      <a:r>
                        <a:rPr sz="2000" b="1" dirty="0">
                          <a:latin typeface="Calibri"/>
                          <a:cs typeface="Calibri"/>
                        </a:rPr>
                        <a:t>Sharath</a:t>
                      </a:r>
                      <a:r>
                        <a:rPr sz="2000" b="1" spc="-114" dirty="0">
                          <a:latin typeface="Calibri"/>
                          <a:cs typeface="Calibri"/>
                        </a:rPr>
                        <a:t> </a:t>
                      </a:r>
                      <a:r>
                        <a:rPr sz="2000" b="1" spc="-10" dirty="0">
                          <a:latin typeface="Calibri"/>
                          <a:cs typeface="Calibri"/>
                        </a:rPr>
                        <a:t>Chandra</a:t>
                      </a:r>
                      <a:endParaRPr sz="2000" dirty="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7D2DF"/>
                    </a:solidFill>
                  </a:tcPr>
                </a:tc>
                <a:extLst>
                  <a:ext uri="{0D108BD9-81ED-4DB2-BD59-A6C34878D82A}">
                    <a16:rowId xmlns:a16="http://schemas.microsoft.com/office/drawing/2014/main" val="10001"/>
                  </a:ext>
                </a:extLst>
              </a:tr>
              <a:tr h="395605">
                <a:tc>
                  <a:txBody>
                    <a:bodyPr/>
                    <a:lstStyle/>
                    <a:p>
                      <a:pPr algn="ctr">
                        <a:lnSpc>
                          <a:spcPct val="100000"/>
                        </a:lnSpc>
                        <a:spcBef>
                          <a:spcPts val="235"/>
                        </a:spcBef>
                      </a:pPr>
                      <a:r>
                        <a:rPr sz="2000" b="1" spc="-50" dirty="0">
                          <a:latin typeface="Calibri"/>
                          <a:cs typeface="Calibri"/>
                        </a:rPr>
                        <a:t>2</a:t>
                      </a:r>
                      <a:endParaRPr sz="20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EAEF"/>
                    </a:solidFill>
                  </a:tcPr>
                </a:tc>
                <a:tc>
                  <a:txBody>
                    <a:bodyPr/>
                    <a:lstStyle/>
                    <a:p>
                      <a:pPr marL="91440">
                        <a:lnSpc>
                          <a:spcPct val="100000"/>
                        </a:lnSpc>
                        <a:spcBef>
                          <a:spcPts val="235"/>
                        </a:spcBef>
                      </a:pPr>
                      <a:r>
                        <a:rPr sz="2000" b="1" spc="-10" dirty="0">
                          <a:latin typeface="Calibri"/>
                          <a:cs typeface="Calibri"/>
                        </a:rPr>
                        <a:t>23881A05AH</a:t>
                      </a:r>
                      <a:endParaRPr sz="20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EAEF"/>
                    </a:solidFill>
                  </a:tcPr>
                </a:tc>
                <a:tc>
                  <a:txBody>
                    <a:bodyPr/>
                    <a:lstStyle/>
                    <a:p>
                      <a:pPr marL="91440">
                        <a:lnSpc>
                          <a:spcPct val="100000"/>
                        </a:lnSpc>
                        <a:spcBef>
                          <a:spcPts val="235"/>
                        </a:spcBef>
                      </a:pPr>
                      <a:r>
                        <a:rPr sz="2000" b="1" spc="-10" dirty="0">
                          <a:latin typeface="Calibri"/>
                          <a:cs typeface="Calibri"/>
                        </a:rPr>
                        <a:t>M.</a:t>
                      </a:r>
                      <a:r>
                        <a:rPr lang="en-IN" sz="2000" b="1" spc="-10" dirty="0">
                          <a:latin typeface="Calibri"/>
                          <a:cs typeface="Calibri"/>
                        </a:rPr>
                        <a:t> Jy</a:t>
                      </a:r>
                      <a:r>
                        <a:rPr sz="2000" b="1" spc="-10" dirty="0" err="1">
                          <a:latin typeface="Calibri"/>
                          <a:cs typeface="Calibri"/>
                        </a:rPr>
                        <a:t>oshna</a:t>
                      </a:r>
                      <a:endParaRPr sz="2000" dirty="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EAEF"/>
                    </a:solidFill>
                  </a:tcPr>
                </a:tc>
                <a:extLst>
                  <a:ext uri="{0D108BD9-81ED-4DB2-BD59-A6C34878D82A}">
                    <a16:rowId xmlns:a16="http://schemas.microsoft.com/office/drawing/2014/main" val="10002"/>
                  </a:ext>
                </a:extLst>
              </a:tr>
              <a:tr h="396240">
                <a:tc>
                  <a:txBody>
                    <a:bodyPr/>
                    <a:lstStyle/>
                    <a:p>
                      <a:pPr algn="ctr">
                        <a:lnSpc>
                          <a:spcPct val="100000"/>
                        </a:lnSpc>
                        <a:spcBef>
                          <a:spcPts val="240"/>
                        </a:spcBef>
                      </a:pPr>
                      <a:r>
                        <a:rPr sz="2000" b="1" spc="-50" dirty="0">
                          <a:latin typeface="Calibri"/>
                          <a:cs typeface="Calibri"/>
                        </a:rPr>
                        <a:t>3</a:t>
                      </a:r>
                      <a:endParaRPr sz="20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7D2DF"/>
                    </a:solidFill>
                  </a:tcPr>
                </a:tc>
                <a:tc>
                  <a:txBody>
                    <a:bodyPr/>
                    <a:lstStyle/>
                    <a:p>
                      <a:pPr marL="91440">
                        <a:lnSpc>
                          <a:spcPct val="100000"/>
                        </a:lnSpc>
                        <a:spcBef>
                          <a:spcPts val="240"/>
                        </a:spcBef>
                      </a:pPr>
                      <a:r>
                        <a:rPr sz="2000" b="1" spc="-10" dirty="0">
                          <a:latin typeface="Calibri"/>
                          <a:cs typeface="Calibri"/>
                        </a:rPr>
                        <a:t>23881A05A</a:t>
                      </a:r>
                      <a:r>
                        <a:rPr lang="en-IN" sz="2000" b="1" spc="-10" dirty="0">
                          <a:latin typeface="Calibri"/>
                          <a:cs typeface="Calibri"/>
                        </a:rPr>
                        <a:t>K</a:t>
                      </a:r>
                      <a:endParaRPr sz="20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7D2DF"/>
                    </a:solidFill>
                  </a:tcPr>
                </a:tc>
                <a:tc>
                  <a:txBody>
                    <a:bodyPr/>
                    <a:lstStyle/>
                    <a:p>
                      <a:pPr marL="91440">
                        <a:lnSpc>
                          <a:spcPct val="100000"/>
                        </a:lnSpc>
                        <a:spcBef>
                          <a:spcPts val="240"/>
                        </a:spcBef>
                      </a:pPr>
                      <a:r>
                        <a:rPr sz="2000" b="1" spc="-10" dirty="0">
                          <a:latin typeface="Calibri"/>
                          <a:cs typeface="Calibri"/>
                        </a:rPr>
                        <a:t>M.</a:t>
                      </a:r>
                      <a:r>
                        <a:rPr lang="en-IN" sz="2000" b="1" spc="-10" dirty="0">
                          <a:latin typeface="Calibri"/>
                          <a:cs typeface="Calibri"/>
                        </a:rPr>
                        <a:t> </a:t>
                      </a:r>
                      <a:r>
                        <a:rPr sz="2000" b="1" spc="-10" dirty="0">
                          <a:latin typeface="Calibri"/>
                          <a:cs typeface="Calibri"/>
                        </a:rPr>
                        <a:t>Palani</a:t>
                      </a:r>
                      <a:endParaRPr sz="20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7D2DF"/>
                    </a:solidFill>
                  </a:tcPr>
                </a:tc>
                <a:extLst>
                  <a:ext uri="{0D108BD9-81ED-4DB2-BD59-A6C34878D82A}">
                    <a16:rowId xmlns:a16="http://schemas.microsoft.com/office/drawing/2014/main" val="10003"/>
                  </a:ext>
                </a:extLst>
              </a:tr>
            </a:tbl>
          </a:graphicData>
        </a:graphic>
      </p:graphicFrame>
      <p:pic>
        <p:nvPicPr>
          <p:cNvPr id="8" name="object 8"/>
          <p:cNvPicPr/>
          <p:nvPr/>
        </p:nvPicPr>
        <p:blipFill>
          <a:blip r:embed="rId2" cstate="print"/>
          <a:stretch>
            <a:fillRect/>
          </a:stretch>
        </p:blipFill>
        <p:spPr>
          <a:xfrm>
            <a:off x="4024121" y="267309"/>
            <a:ext cx="1244396" cy="9518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74637"/>
            <a:ext cx="7391400" cy="543739"/>
          </a:xfrm>
          <a:prstGeom prst="rect">
            <a:avLst/>
          </a:prstGeom>
          <a:ln w="25400">
            <a:solidFill>
              <a:srgbClr val="4AACC5"/>
            </a:solidFill>
          </a:ln>
        </p:spPr>
        <p:txBody>
          <a:bodyPr vert="horz" wrap="square" lIns="0" tIns="50800" rIns="0" bIns="0" rtlCol="0">
            <a:spAutoFit/>
          </a:bodyPr>
          <a:lstStyle/>
          <a:p>
            <a:pPr marL="635" algn="ctr">
              <a:lnSpc>
                <a:spcPct val="100000"/>
              </a:lnSpc>
              <a:spcBef>
                <a:spcPts val="400"/>
              </a:spcBef>
            </a:pPr>
            <a:r>
              <a:rPr lang="en-IN" sz="3200" dirty="0">
                <a:solidFill>
                  <a:srgbClr val="C00000"/>
                </a:solidFill>
              </a:rPr>
              <a:t>Mini Project Review Outlines</a:t>
            </a:r>
            <a:endParaRPr sz="3200" dirty="0">
              <a:solidFill>
                <a:srgbClr val="FF0000"/>
              </a:solidFill>
            </a:endParaRPr>
          </a:p>
        </p:txBody>
      </p:sp>
      <p:sp>
        <p:nvSpPr>
          <p:cNvPr id="3" name="object 3"/>
          <p:cNvSpPr/>
          <p:nvPr/>
        </p:nvSpPr>
        <p:spPr>
          <a:xfrm>
            <a:off x="228600" y="1014475"/>
            <a:ext cx="8763000" cy="5615305"/>
          </a:xfrm>
          <a:custGeom>
            <a:avLst/>
            <a:gdLst/>
            <a:ahLst/>
            <a:cxnLst/>
            <a:rect l="l" t="t" r="r" b="b"/>
            <a:pathLst>
              <a:path w="8763000" h="5615305">
                <a:moveTo>
                  <a:pt x="0" y="5614924"/>
                </a:moveTo>
                <a:lnTo>
                  <a:pt x="8763000" y="5614924"/>
                </a:lnTo>
                <a:lnTo>
                  <a:pt x="8763000" y="0"/>
                </a:lnTo>
                <a:lnTo>
                  <a:pt x="0" y="0"/>
                </a:lnTo>
                <a:lnTo>
                  <a:pt x="0" y="5614924"/>
                </a:lnTo>
                <a:close/>
              </a:path>
            </a:pathLst>
          </a:custGeom>
          <a:ln w="25399">
            <a:solidFill>
              <a:srgbClr val="375F92"/>
            </a:solidFill>
          </a:ln>
        </p:spPr>
        <p:txBody>
          <a:bodyPr wrap="square" lIns="0" tIns="0" rIns="0" bIns="0" rtlCol="0"/>
          <a:lstStyle/>
          <a:p>
            <a:endParaRPr/>
          </a:p>
        </p:txBody>
      </p:sp>
      <p:sp>
        <p:nvSpPr>
          <p:cNvPr id="4" name="object 4"/>
          <p:cNvSpPr txBox="1">
            <a:spLocks noGrp="1"/>
          </p:cNvSpPr>
          <p:nvPr>
            <p:ph type="body" idx="1"/>
          </p:nvPr>
        </p:nvSpPr>
        <p:spPr>
          <a:xfrm>
            <a:off x="307340" y="1046226"/>
            <a:ext cx="8269605" cy="5650265"/>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sz="2000" dirty="0"/>
              <a:t>Main</a:t>
            </a:r>
            <a:r>
              <a:rPr sz="2000" spc="-20" dirty="0"/>
              <a:t> </a:t>
            </a:r>
            <a:r>
              <a:rPr sz="2000" dirty="0"/>
              <a:t>idea</a:t>
            </a:r>
            <a:r>
              <a:rPr sz="2000" spc="-30" dirty="0"/>
              <a:t> </a:t>
            </a:r>
            <a:r>
              <a:rPr sz="2000" dirty="0"/>
              <a:t>of the</a:t>
            </a:r>
            <a:r>
              <a:rPr sz="2000" spc="-30" dirty="0"/>
              <a:t> </a:t>
            </a:r>
            <a:r>
              <a:rPr sz="2000" spc="-10" dirty="0"/>
              <a:t>Project</a:t>
            </a:r>
          </a:p>
          <a:p>
            <a:pPr marL="354965" indent="-342265">
              <a:lnSpc>
                <a:spcPct val="100000"/>
              </a:lnSpc>
              <a:spcBef>
                <a:spcPts val="1415"/>
              </a:spcBef>
              <a:buFont typeface="Arial MT"/>
              <a:buChar char="•"/>
              <a:tabLst>
                <a:tab pos="354965" algn="l"/>
              </a:tabLst>
            </a:pPr>
            <a:r>
              <a:rPr sz="2000" dirty="0"/>
              <a:t>Existing</a:t>
            </a:r>
            <a:r>
              <a:rPr sz="2000" spc="-70" dirty="0"/>
              <a:t> </a:t>
            </a:r>
            <a:r>
              <a:rPr sz="2000" spc="-10" dirty="0"/>
              <a:t>System</a:t>
            </a:r>
            <a:r>
              <a:rPr sz="2000" spc="-60" dirty="0"/>
              <a:t> </a:t>
            </a:r>
            <a:r>
              <a:rPr sz="2000" dirty="0"/>
              <a:t>Vs</a:t>
            </a:r>
            <a:r>
              <a:rPr sz="2000" spc="-55" dirty="0"/>
              <a:t> </a:t>
            </a:r>
            <a:r>
              <a:rPr sz="2000" spc="-10" dirty="0"/>
              <a:t>Proposed</a:t>
            </a:r>
          </a:p>
          <a:p>
            <a:pPr marL="354965" indent="-342265">
              <a:lnSpc>
                <a:spcPct val="100000"/>
              </a:lnSpc>
              <a:spcBef>
                <a:spcPts val="1420"/>
              </a:spcBef>
              <a:buFont typeface="Arial MT"/>
              <a:buChar char="•"/>
              <a:tabLst>
                <a:tab pos="354965" algn="l"/>
              </a:tabLst>
            </a:pPr>
            <a:r>
              <a:rPr sz="2000" dirty="0"/>
              <a:t>Proposed</a:t>
            </a:r>
            <a:r>
              <a:rPr sz="2000" spc="-95" dirty="0"/>
              <a:t> </a:t>
            </a:r>
            <a:r>
              <a:rPr sz="2000" dirty="0"/>
              <a:t>Project</a:t>
            </a:r>
            <a:r>
              <a:rPr sz="2000" spc="-70" dirty="0"/>
              <a:t> </a:t>
            </a:r>
            <a:r>
              <a:rPr sz="2000" spc="-10" dirty="0"/>
              <a:t>Objectives</a:t>
            </a:r>
          </a:p>
          <a:p>
            <a:pPr marL="354965" indent="-342265">
              <a:lnSpc>
                <a:spcPct val="100000"/>
              </a:lnSpc>
              <a:spcBef>
                <a:spcPts val="1415"/>
              </a:spcBef>
              <a:buFont typeface="Arial MT"/>
              <a:buChar char="•"/>
              <a:tabLst>
                <a:tab pos="354965" algn="l"/>
              </a:tabLst>
            </a:pPr>
            <a:r>
              <a:rPr sz="2000" dirty="0"/>
              <a:t>Proposed</a:t>
            </a:r>
            <a:r>
              <a:rPr sz="2000" spc="-95" dirty="0"/>
              <a:t> </a:t>
            </a:r>
            <a:r>
              <a:rPr sz="2000" dirty="0"/>
              <a:t>Project</a:t>
            </a:r>
            <a:r>
              <a:rPr sz="2000" spc="-70" dirty="0"/>
              <a:t> </a:t>
            </a:r>
            <a:r>
              <a:rPr sz="2000" spc="-10" dirty="0"/>
              <a:t>Outcomes</a:t>
            </a:r>
          </a:p>
          <a:p>
            <a:pPr marL="354965" indent="-342265">
              <a:lnSpc>
                <a:spcPct val="100000"/>
              </a:lnSpc>
              <a:spcBef>
                <a:spcPts val="1415"/>
              </a:spcBef>
              <a:buFont typeface="Arial MT"/>
              <a:buChar char="•"/>
              <a:tabLst>
                <a:tab pos="354965" algn="l"/>
              </a:tabLst>
            </a:pPr>
            <a:r>
              <a:rPr sz="2000" dirty="0"/>
              <a:t>Software</a:t>
            </a:r>
            <a:r>
              <a:rPr sz="2000" spc="-35" dirty="0"/>
              <a:t> </a:t>
            </a:r>
            <a:r>
              <a:rPr sz="2000" dirty="0"/>
              <a:t>and</a:t>
            </a:r>
            <a:r>
              <a:rPr sz="2000" spc="-50" dirty="0"/>
              <a:t> </a:t>
            </a:r>
            <a:r>
              <a:rPr sz="2000" spc="-10" dirty="0"/>
              <a:t>Hardware</a:t>
            </a:r>
            <a:r>
              <a:rPr sz="2000" spc="-40" dirty="0"/>
              <a:t> </a:t>
            </a:r>
            <a:r>
              <a:rPr sz="2000" spc="-10" dirty="0"/>
              <a:t>Requirements</a:t>
            </a:r>
          </a:p>
          <a:p>
            <a:pPr marL="354965" indent="-342265">
              <a:lnSpc>
                <a:spcPct val="100000"/>
              </a:lnSpc>
              <a:spcBef>
                <a:spcPts val="1415"/>
              </a:spcBef>
              <a:buFont typeface="Arial MT"/>
              <a:buChar char="•"/>
              <a:tabLst>
                <a:tab pos="354965" algn="l"/>
              </a:tabLst>
            </a:pPr>
            <a:r>
              <a:rPr sz="2000" dirty="0"/>
              <a:t>Process</a:t>
            </a:r>
            <a:r>
              <a:rPr sz="2000" spc="-75" dirty="0"/>
              <a:t> </a:t>
            </a:r>
            <a:r>
              <a:rPr sz="2000" spc="-10" dirty="0"/>
              <a:t>Model</a:t>
            </a:r>
          </a:p>
          <a:p>
            <a:pPr marL="354965" indent="-342265">
              <a:lnSpc>
                <a:spcPct val="100000"/>
              </a:lnSpc>
              <a:spcBef>
                <a:spcPts val="1420"/>
              </a:spcBef>
              <a:buFont typeface="Arial MT"/>
              <a:buChar char="•"/>
              <a:tabLst>
                <a:tab pos="354965" algn="l"/>
              </a:tabLst>
            </a:pPr>
            <a:r>
              <a:rPr sz="2000" spc="-10" dirty="0">
                <a:latin typeface="Calibri"/>
                <a:cs typeface="Calibri"/>
              </a:rPr>
              <a:t>Architectural</a:t>
            </a:r>
            <a:r>
              <a:rPr sz="2000" spc="-80" dirty="0">
                <a:latin typeface="Calibri"/>
                <a:cs typeface="Calibri"/>
              </a:rPr>
              <a:t> </a:t>
            </a:r>
            <a:r>
              <a:rPr sz="2000" dirty="0">
                <a:latin typeface="Calibri"/>
                <a:cs typeface="Calibri"/>
              </a:rPr>
              <a:t>Diagram</a:t>
            </a:r>
            <a:r>
              <a:rPr sz="2000" spc="-40" dirty="0">
                <a:latin typeface="Calibri"/>
                <a:cs typeface="Calibri"/>
              </a:rPr>
              <a:t> </a:t>
            </a:r>
            <a:endParaRPr lang="en-IN" sz="2000" spc="-40" dirty="0"/>
          </a:p>
          <a:p>
            <a:pPr marL="354965" indent="-342265">
              <a:lnSpc>
                <a:spcPct val="100000"/>
              </a:lnSpc>
              <a:spcBef>
                <a:spcPts val="1420"/>
              </a:spcBef>
              <a:buFont typeface="Arial MT"/>
              <a:buChar char="•"/>
              <a:tabLst>
                <a:tab pos="354965" algn="l"/>
              </a:tabLst>
            </a:pPr>
            <a:r>
              <a:rPr lang="en-US" sz="2000" dirty="0"/>
              <a:t>Proposed</a:t>
            </a:r>
            <a:r>
              <a:rPr lang="en-US" sz="2000" spc="-60" dirty="0"/>
              <a:t> </a:t>
            </a:r>
            <a:r>
              <a:rPr lang="en-US" sz="2000" dirty="0"/>
              <a:t>Methods</a:t>
            </a:r>
            <a:r>
              <a:rPr lang="en-US" sz="2000" spc="-35" dirty="0"/>
              <a:t> </a:t>
            </a:r>
            <a:r>
              <a:rPr lang="en-US" sz="2000" dirty="0"/>
              <a:t>and</a:t>
            </a:r>
            <a:r>
              <a:rPr lang="en-US" sz="2000" spc="-35" dirty="0"/>
              <a:t> </a:t>
            </a:r>
            <a:r>
              <a:rPr lang="en-US" sz="2000" spc="-10" dirty="0"/>
              <a:t>Algorithms</a:t>
            </a:r>
            <a:endParaRPr lang="en-US" sz="2000" dirty="0"/>
          </a:p>
          <a:p>
            <a:pPr marL="354965" indent="-342265">
              <a:lnSpc>
                <a:spcPct val="100000"/>
              </a:lnSpc>
              <a:spcBef>
                <a:spcPts val="1415"/>
              </a:spcBef>
              <a:buFont typeface="Arial MT"/>
              <a:buChar char="•"/>
              <a:tabLst>
                <a:tab pos="354965" algn="l"/>
              </a:tabLst>
            </a:pPr>
            <a:r>
              <a:rPr lang="en-US" sz="2000" spc="-10" dirty="0"/>
              <a:t>Results</a:t>
            </a:r>
          </a:p>
          <a:p>
            <a:pPr marL="354965" indent="-342265">
              <a:lnSpc>
                <a:spcPct val="100000"/>
              </a:lnSpc>
              <a:spcBef>
                <a:spcPts val="1415"/>
              </a:spcBef>
              <a:buFont typeface="Arial MT"/>
              <a:buChar char="•"/>
              <a:tabLst>
                <a:tab pos="354965" algn="l"/>
              </a:tabLst>
            </a:pPr>
            <a:r>
              <a:rPr lang="en-US" sz="2000" spc="-10" dirty="0"/>
              <a:t>Research paper (Acceptance Proof)</a:t>
            </a:r>
            <a:endParaRPr lang="en-US" sz="2000" dirty="0"/>
          </a:p>
          <a:p>
            <a:pPr marL="354965" indent="-342265">
              <a:lnSpc>
                <a:spcPct val="100000"/>
              </a:lnSpc>
              <a:spcBef>
                <a:spcPts val="1415"/>
              </a:spcBef>
              <a:buFont typeface="Arial MT"/>
              <a:buChar char="•"/>
              <a:tabLst>
                <a:tab pos="354965" algn="l"/>
              </a:tabLst>
            </a:pPr>
            <a:r>
              <a:rPr lang="en-US" sz="2000" spc="-10" dirty="0"/>
              <a:t>Conclusion</a:t>
            </a:r>
            <a:endParaRPr lang="en-US" sz="2000" dirty="0"/>
          </a:p>
          <a:p>
            <a:pPr marL="354965" indent="-342265">
              <a:lnSpc>
                <a:spcPct val="100000"/>
              </a:lnSpc>
              <a:spcBef>
                <a:spcPts val="1420"/>
              </a:spcBef>
              <a:buFont typeface="Arial MT"/>
              <a:buChar char="•"/>
              <a:tabLst>
                <a:tab pos="354965" algn="l"/>
              </a:tabLst>
            </a:pPr>
            <a:endParaRPr sz="1800" dirty="0">
              <a:latin typeface="Calibri"/>
              <a:cs typeface="Calibri"/>
            </a:endParaRPr>
          </a:p>
        </p:txBody>
      </p:sp>
      <p:sp>
        <p:nvSpPr>
          <p:cNvPr id="6" name="object 6"/>
          <p:cNvSpPr txBox="1"/>
          <p:nvPr/>
        </p:nvSpPr>
        <p:spPr>
          <a:xfrm>
            <a:off x="8504681" y="6426504"/>
            <a:ext cx="102870" cy="208915"/>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2</a:t>
            </a:r>
            <a:endParaRPr sz="1200">
              <a:latin typeface="Calibri"/>
              <a:cs typeface="Calibri"/>
            </a:endParaRPr>
          </a:p>
        </p:txBody>
      </p:sp>
      <p:pic>
        <p:nvPicPr>
          <p:cNvPr id="7" name="object 7"/>
          <p:cNvPicPr/>
          <p:nvPr/>
        </p:nvPicPr>
        <p:blipFill>
          <a:blip r:embed="rId2" cstate="print"/>
          <a:stretch>
            <a:fillRect/>
          </a:stretch>
        </p:blipFill>
        <p:spPr>
          <a:xfrm>
            <a:off x="7959090" y="182879"/>
            <a:ext cx="956309" cy="731520"/>
          </a:xfrm>
          <a:prstGeom prst="rect">
            <a:avLst/>
          </a:prstGeom>
        </p:spPr>
      </p:pic>
      <p:sp>
        <p:nvSpPr>
          <p:cNvPr id="8" name="object 8"/>
          <p:cNvSpPr txBox="1"/>
          <p:nvPr/>
        </p:nvSpPr>
        <p:spPr>
          <a:xfrm>
            <a:off x="3647694" y="6426504"/>
            <a:ext cx="2916555" cy="197490"/>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888888"/>
                </a:solidFill>
                <a:latin typeface="Calibri"/>
                <a:cs typeface="Calibri"/>
              </a:rPr>
              <a:t>DEPARTMENT</a:t>
            </a:r>
            <a:r>
              <a:rPr sz="1200" spc="-30" dirty="0">
                <a:solidFill>
                  <a:srgbClr val="888888"/>
                </a:solidFill>
                <a:latin typeface="Calibri"/>
                <a:cs typeface="Calibri"/>
              </a:rPr>
              <a:t> </a:t>
            </a:r>
            <a:r>
              <a:rPr sz="1200" dirty="0">
                <a:solidFill>
                  <a:srgbClr val="888888"/>
                </a:solidFill>
                <a:latin typeface="Calibri"/>
                <a:cs typeface="Calibri"/>
              </a:rPr>
              <a:t>OF</a:t>
            </a:r>
            <a:r>
              <a:rPr sz="1200" spc="10" dirty="0">
                <a:solidFill>
                  <a:srgbClr val="888888"/>
                </a:solidFill>
                <a:latin typeface="Calibri"/>
                <a:cs typeface="Calibri"/>
              </a:rPr>
              <a:t> </a:t>
            </a:r>
            <a:r>
              <a:rPr sz="1200" dirty="0">
                <a:solidFill>
                  <a:srgbClr val="888888"/>
                </a:solidFill>
                <a:latin typeface="Calibri"/>
                <a:cs typeface="Calibri"/>
              </a:rPr>
              <a:t>CSE</a:t>
            </a:r>
            <a:r>
              <a:rPr sz="1200" spc="-5" dirty="0">
                <a:solidFill>
                  <a:srgbClr val="888888"/>
                </a:solidFill>
                <a:latin typeface="Calibri"/>
                <a:cs typeface="Calibri"/>
              </a:rPr>
              <a:t> </a:t>
            </a:r>
            <a:r>
              <a:rPr sz="1200" dirty="0">
                <a:solidFill>
                  <a:srgbClr val="888888"/>
                </a:solidFill>
                <a:latin typeface="Calibri"/>
                <a:cs typeface="Calibri"/>
              </a:rPr>
              <a:t>MINI</a:t>
            </a:r>
            <a:r>
              <a:rPr sz="1200" spc="-20" dirty="0">
                <a:solidFill>
                  <a:srgbClr val="888888"/>
                </a:solidFill>
                <a:latin typeface="Calibri"/>
                <a:cs typeface="Calibri"/>
              </a:rPr>
              <a:t> </a:t>
            </a:r>
            <a:r>
              <a:rPr sz="1200" spc="-10" dirty="0">
                <a:solidFill>
                  <a:srgbClr val="888888"/>
                </a:solidFill>
                <a:latin typeface="Calibri"/>
                <a:cs typeface="Calibri"/>
              </a:rPr>
              <a:t>PROJECT</a:t>
            </a:r>
            <a:r>
              <a:rPr sz="1200" spc="10" dirty="0">
                <a:solidFill>
                  <a:srgbClr val="888888"/>
                </a:solidFill>
                <a:latin typeface="Calibri"/>
                <a:cs typeface="Calibri"/>
              </a:rPr>
              <a:t> </a:t>
            </a:r>
            <a:endParaRPr sz="12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74637"/>
            <a:ext cx="7391400" cy="553998"/>
          </a:xfrm>
          <a:prstGeom prst="rect">
            <a:avLst/>
          </a:prstGeom>
          <a:ln w="25400">
            <a:solidFill>
              <a:srgbClr val="4AACC5"/>
            </a:solidFill>
          </a:ln>
        </p:spPr>
        <p:txBody>
          <a:bodyPr vert="horz" wrap="square" lIns="0" tIns="60960" rIns="0" bIns="0" rtlCol="0">
            <a:spAutoFit/>
          </a:bodyPr>
          <a:lstStyle/>
          <a:p>
            <a:pPr algn="ctr">
              <a:lnSpc>
                <a:spcPct val="100000"/>
              </a:lnSpc>
              <a:spcBef>
                <a:spcPts val="480"/>
              </a:spcBef>
            </a:pPr>
            <a:r>
              <a:rPr sz="3200" dirty="0">
                <a:solidFill>
                  <a:srgbClr val="C00000"/>
                </a:solidFill>
              </a:rPr>
              <a:t>Main</a:t>
            </a:r>
            <a:r>
              <a:rPr sz="3200" spc="-35" dirty="0">
                <a:solidFill>
                  <a:srgbClr val="C00000"/>
                </a:solidFill>
              </a:rPr>
              <a:t> </a:t>
            </a:r>
            <a:r>
              <a:rPr lang="en-IN" sz="3200" spc="-35" dirty="0">
                <a:solidFill>
                  <a:srgbClr val="C00000"/>
                </a:solidFill>
              </a:rPr>
              <a:t>I</a:t>
            </a:r>
            <a:r>
              <a:rPr sz="3200" dirty="0" err="1">
                <a:solidFill>
                  <a:srgbClr val="C00000"/>
                </a:solidFill>
              </a:rPr>
              <a:t>dea</a:t>
            </a:r>
            <a:r>
              <a:rPr sz="3200" spc="-10" dirty="0">
                <a:solidFill>
                  <a:srgbClr val="C00000"/>
                </a:solidFill>
              </a:rPr>
              <a:t> </a:t>
            </a:r>
            <a:r>
              <a:rPr lang="en-IN" sz="3200" spc="-10" dirty="0">
                <a:solidFill>
                  <a:srgbClr val="C00000"/>
                </a:solidFill>
              </a:rPr>
              <a:t>O</a:t>
            </a:r>
            <a:r>
              <a:rPr sz="3200" dirty="0">
                <a:solidFill>
                  <a:srgbClr val="C00000"/>
                </a:solidFill>
              </a:rPr>
              <a:t>f</a:t>
            </a:r>
            <a:r>
              <a:rPr sz="3200" spc="-25" dirty="0">
                <a:solidFill>
                  <a:srgbClr val="C00000"/>
                </a:solidFill>
              </a:rPr>
              <a:t> </a:t>
            </a:r>
            <a:r>
              <a:rPr lang="en-IN" sz="3200" spc="-25" dirty="0">
                <a:solidFill>
                  <a:srgbClr val="C00000"/>
                </a:solidFill>
              </a:rPr>
              <a:t>T</a:t>
            </a:r>
            <a:r>
              <a:rPr sz="3200" dirty="0">
                <a:solidFill>
                  <a:srgbClr val="C00000"/>
                </a:solidFill>
              </a:rPr>
              <a:t>he</a:t>
            </a:r>
            <a:r>
              <a:rPr sz="3200" spc="-15" dirty="0">
                <a:solidFill>
                  <a:srgbClr val="C00000"/>
                </a:solidFill>
              </a:rPr>
              <a:t> </a:t>
            </a:r>
            <a:r>
              <a:rPr sz="3200" spc="-10" dirty="0">
                <a:solidFill>
                  <a:srgbClr val="C00000"/>
                </a:solidFill>
              </a:rPr>
              <a:t>Project</a:t>
            </a:r>
            <a:endParaRPr sz="3200" dirty="0"/>
          </a:p>
        </p:txBody>
      </p:sp>
      <p:sp>
        <p:nvSpPr>
          <p:cNvPr id="3" name="object 3"/>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
        <p:nvSpPr>
          <p:cNvPr id="4" name="object 4"/>
          <p:cNvSpPr txBox="1"/>
          <p:nvPr/>
        </p:nvSpPr>
        <p:spPr>
          <a:xfrm>
            <a:off x="307340" y="991638"/>
            <a:ext cx="8559800" cy="5265288"/>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J</a:t>
            </a:r>
            <a:r>
              <a:rPr lang="en-IN" sz="2800" b="1" dirty="0" err="1">
                <a:latin typeface="Calibri"/>
                <a:cs typeface="Calibri"/>
              </a:rPr>
              <a:t>ob</a:t>
            </a:r>
            <a:r>
              <a:rPr lang="en-IN" sz="2800" b="1" dirty="0">
                <a:latin typeface="Calibri"/>
                <a:cs typeface="Calibri"/>
              </a:rPr>
              <a:t> Scam Detection</a:t>
            </a:r>
            <a:endParaRPr sz="2800" dirty="0">
              <a:latin typeface="Calibri"/>
              <a:cs typeface="Calibri"/>
            </a:endParaRPr>
          </a:p>
          <a:p>
            <a:pPr marL="353695" marR="269875" indent="-340995" algn="just">
              <a:lnSpc>
                <a:spcPct val="150000"/>
              </a:lnSpc>
              <a:spcBef>
                <a:spcPts val="670"/>
              </a:spcBef>
              <a:buFont typeface="Arial MT"/>
              <a:buChar char="•"/>
              <a:tabLst>
                <a:tab pos="355600" algn="l"/>
              </a:tabLst>
            </a:pPr>
            <a:r>
              <a:rPr sz="2000" dirty="0">
                <a:latin typeface="Calibri"/>
                <a:cs typeface="Calibri"/>
              </a:rPr>
              <a:t>Existing</a:t>
            </a:r>
            <a:r>
              <a:rPr sz="2000" spc="-80" dirty="0">
                <a:latin typeface="Calibri"/>
                <a:cs typeface="Calibri"/>
              </a:rPr>
              <a:t> </a:t>
            </a:r>
            <a:r>
              <a:rPr sz="2000" spc="-20" dirty="0">
                <a:latin typeface="Calibri"/>
                <a:cs typeface="Calibri"/>
              </a:rPr>
              <a:t>systems</a:t>
            </a:r>
            <a:r>
              <a:rPr sz="2000" spc="-60" dirty="0">
                <a:latin typeface="Calibri"/>
                <a:cs typeface="Calibri"/>
              </a:rPr>
              <a:t> </a:t>
            </a:r>
            <a:r>
              <a:rPr sz="2000" dirty="0">
                <a:latin typeface="Calibri"/>
                <a:cs typeface="Calibri"/>
              </a:rPr>
              <a:t>for</a:t>
            </a:r>
            <a:r>
              <a:rPr sz="2000" spc="-70" dirty="0">
                <a:latin typeface="Calibri"/>
                <a:cs typeface="Calibri"/>
              </a:rPr>
              <a:t> </a:t>
            </a:r>
            <a:r>
              <a:rPr sz="2000" dirty="0">
                <a:latin typeface="Calibri"/>
                <a:cs typeface="Calibri"/>
              </a:rPr>
              <a:t>detecting</a:t>
            </a:r>
            <a:r>
              <a:rPr sz="2000" spc="-75" dirty="0">
                <a:latin typeface="Calibri"/>
                <a:cs typeface="Calibri"/>
              </a:rPr>
              <a:t> </a:t>
            </a:r>
            <a:r>
              <a:rPr sz="2000" dirty="0">
                <a:latin typeface="Calibri"/>
                <a:cs typeface="Calibri"/>
              </a:rPr>
              <a:t>scam</a:t>
            </a:r>
            <a:r>
              <a:rPr sz="2000" spc="-65" dirty="0">
                <a:latin typeface="Calibri"/>
                <a:cs typeface="Calibri"/>
              </a:rPr>
              <a:t> </a:t>
            </a:r>
            <a:r>
              <a:rPr sz="2000" dirty="0">
                <a:latin typeface="Calibri"/>
                <a:cs typeface="Calibri"/>
              </a:rPr>
              <a:t>job</a:t>
            </a:r>
            <a:r>
              <a:rPr sz="2000" spc="-70" dirty="0">
                <a:latin typeface="Calibri"/>
                <a:cs typeface="Calibri"/>
              </a:rPr>
              <a:t> </a:t>
            </a:r>
            <a:r>
              <a:rPr sz="2000" spc="-10" dirty="0">
                <a:latin typeface="Calibri"/>
                <a:cs typeface="Calibri"/>
              </a:rPr>
              <a:t>advertisements </a:t>
            </a:r>
            <a:r>
              <a:rPr sz="2000" dirty="0">
                <a:latin typeface="Calibri"/>
                <a:cs typeface="Calibri"/>
              </a:rPr>
              <a:t>mainly</a:t>
            </a:r>
            <a:r>
              <a:rPr sz="2000" spc="-55" dirty="0">
                <a:latin typeface="Calibri"/>
                <a:cs typeface="Calibri"/>
              </a:rPr>
              <a:t> </a:t>
            </a:r>
            <a:r>
              <a:rPr sz="2000" dirty="0">
                <a:latin typeface="Calibri"/>
                <a:cs typeface="Calibri"/>
              </a:rPr>
              <a:t>rely</a:t>
            </a:r>
            <a:r>
              <a:rPr sz="2000" spc="-60" dirty="0">
                <a:latin typeface="Calibri"/>
                <a:cs typeface="Calibri"/>
              </a:rPr>
              <a:t> </a:t>
            </a:r>
            <a:r>
              <a:rPr sz="2000" dirty="0">
                <a:latin typeface="Calibri"/>
                <a:cs typeface="Calibri"/>
              </a:rPr>
              <a:t>on</a:t>
            </a:r>
            <a:r>
              <a:rPr sz="2000" spc="-55" dirty="0">
                <a:latin typeface="Calibri"/>
                <a:cs typeface="Calibri"/>
              </a:rPr>
              <a:t> </a:t>
            </a:r>
            <a:r>
              <a:rPr sz="2000" dirty="0">
                <a:latin typeface="Calibri"/>
                <a:cs typeface="Calibri"/>
              </a:rPr>
              <a:t>manual</a:t>
            </a:r>
            <a:r>
              <a:rPr sz="2000" spc="-50" dirty="0">
                <a:latin typeface="Calibri"/>
                <a:cs typeface="Calibri"/>
              </a:rPr>
              <a:t> </a:t>
            </a:r>
            <a:r>
              <a:rPr sz="2000" spc="-35" dirty="0">
                <a:latin typeface="Calibri"/>
                <a:cs typeface="Calibri"/>
              </a:rPr>
              <a:t>review,</a:t>
            </a:r>
            <a:r>
              <a:rPr sz="2000" spc="-60" dirty="0">
                <a:latin typeface="Calibri"/>
                <a:cs typeface="Calibri"/>
              </a:rPr>
              <a:t> </a:t>
            </a:r>
            <a:r>
              <a:rPr sz="2000" spc="-20" dirty="0">
                <a:latin typeface="Calibri"/>
                <a:cs typeface="Calibri"/>
              </a:rPr>
              <a:t>rule-</a:t>
            </a:r>
            <a:r>
              <a:rPr sz="2000" dirty="0">
                <a:latin typeface="Calibri"/>
                <a:cs typeface="Calibri"/>
              </a:rPr>
              <a:t>based</a:t>
            </a:r>
            <a:r>
              <a:rPr sz="2000" spc="-30" dirty="0">
                <a:latin typeface="Calibri"/>
                <a:cs typeface="Calibri"/>
              </a:rPr>
              <a:t> </a:t>
            </a:r>
            <a:r>
              <a:rPr sz="2000" dirty="0">
                <a:latin typeface="Calibri"/>
                <a:cs typeface="Calibri"/>
              </a:rPr>
              <a:t>filtering,</a:t>
            </a:r>
            <a:r>
              <a:rPr sz="2000" spc="-55" dirty="0">
                <a:latin typeface="Calibri"/>
                <a:cs typeface="Calibri"/>
              </a:rPr>
              <a:t> </a:t>
            </a:r>
            <a:r>
              <a:rPr sz="2000" spc="-20" dirty="0">
                <a:latin typeface="Calibri"/>
                <a:cs typeface="Calibri"/>
              </a:rPr>
              <a:t>user 	</a:t>
            </a:r>
            <a:r>
              <a:rPr sz="2000" dirty="0">
                <a:latin typeface="Calibri"/>
                <a:cs typeface="Calibri"/>
              </a:rPr>
              <a:t>reporting,</a:t>
            </a:r>
            <a:r>
              <a:rPr sz="2000" spc="-65" dirty="0">
                <a:latin typeface="Calibri"/>
                <a:cs typeface="Calibri"/>
              </a:rPr>
              <a:t> </a:t>
            </a:r>
            <a:r>
              <a:rPr sz="2000" dirty="0">
                <a:latin typeface="Calibri"/>
                <a:cs typeface="Calibri"/>
              </a:rPr>
              <a:t>and</a:t>
            </a:r>
            <a:r>
              <a:rPr sz="2000" spc="-50" dirty="0">
                <a:latin typeface="Calibri"/>
                <a:cs typeface="Calibri"/>
              </a:rPr>
              <a:t> </a:t>
            </a:r>
            <a:r>
              <a:rPr sz="2000" dirty="0">
                <a:latin typeface="Calibri"/>
                <a:cs typeface="Calibri"/>
              </a:rPr>
              <a:t>basic</a:t>
            </a:r>
            <a:r>
              <a:rPr sz="2000" spc="-60" dirty="0">
                <a:latin typeface="Calibri"/>
                <a:cs typeface="Calibri"/>
              </a:rPr>
              <a:t> </a:t>
            </a:r>
            <a:r>
              <a:rPr sz="2000" dirty="0">
                <a:latin typeface="Calibri"/>
                <a:cs typeface="Calibri"/>
              </a:rPr>
              <a:t>machine</a:t>
            </a:r>
            <a:r>
              <a:rPr sz="2000" spc="-55" dirty="0">
                <a:latin typeface="Calibri"/>
                <a:cs typeface="Calibri"/>
              </a:rPr>
              <a:t> </a:t>
            </a:r>
            <a:r>
              <a:rPr sz="2000" dirty="0">
                <a:latin typeface="Calibri"/>
                <a:cs typeface="Calibri"/>
              </a:rPr>
              <a:t>learning</a:t>
            </a:r>
            <a:r>
              <a:rPr sz="2000" spc="-55" dirty="0">
                <a:latin typeface="Calibri"/>
                <a:cs typeface="Calibri"/>
              </a:rPr>
              <a:t> </a:t>
            </a:r>
            <a:r>
              <a:rPr sz="2000" spc="-10" dirty="0">
                <a:latin typeface="Calibri"/>
                <a:cs typeface="Calibri"/>
              </a:rPr>
              <a:t>methods.</a:t>
            </a:r>
            <a:endParaRPr sz="2000" dirty="0">
              <a:latin typeface="Calibri"/>
              <a:cs typeface="Calibri"/>
            </a:endParaRPr>
          </a:p>
          <a:p>
            <a:pPr marL="354330" indent="-341630" algn="just">
              <a:lnSpc>
                <a:spcPct val="150000"/>
              </a:lnSpc>
              <a:spcBef>
                <a:spcPts val="675"/>
              </a:spcBef>
              <a:buFont typeface="Arial MT"/>
              <a:buChar char="•"/>
              <a:tabLst>
                <a:tab pos="354330" algn="l"/>
              </a:tabLst>
            </a:pPr>
            <a:r>
              <a:rPr sz="2000" dirty="0">
                <a:latin typeface="Calibri"/>
                <a:cs typeface="Calibri"/>
              </a:rPr>
              <a:t>Protect</a:t>
            </a:r>
            <a:r>
              <a:rPr sz="2000" spc="-95" dirty="0">
                <a:latin typeface="Calibri"/>
                <a:cs typeface="Calibri"/>
              </a:rPr>
              <a:t> </a:t>
            </a:r>
            <a:r>
              <a:rPr sz="2000" dirty="0">
                <a:latin typeface="Calibri"/>
                <a:cs typeface="Calibri"/>
              </a:rPr>
              <a:t>job</a:t>
            </a:r>
            <a:r>
              <a:rPr sz="2000" spc="-95" dirty="0">
                <a:latin typeface="Calibri"/>
                <a:cs typeface="Calibri"/>
              </a:rPr>
              <a:t> </a:t>
            </a:r>
            <a:r>
              <a:rPr sz="2000" spc="-10" dirty="0">
                <a:latin typeface="Calibri"/>
                <a:cs typeface="Calibri"/>
              </a:rPr>
              <a:t>seekers</a:t>
            </a:r>
            <a:r>
              <a:rPr sz="2000" spc="-105" dirty="0">
                <a:latin typeface="Calibri"/>
                <a:cs typeface="Calibri"/>
              </a:rPr>
              <a:t> </a:t>
            </a:r>
            <a:r>
              <a:rPr sz="2000" dirty="0">
                <a:latin typeface="Calibri"/>
                <a:cs typeface="Calibri"/>
              </a:rPr>
              <a:t>from</a:t>
            </a:r>
            <a:r>
              <a:rPr sz="2000" spc="-95" dirty="0">
                <a:latin typeface="Calibri"/>
                <a:cs typeface="Calibri"/>
              </a:rPr>
              <a:t> </a:t>
            </a:r>
            <a:r>
              <a:rPr sz="2000" dirty="0">
                <a:latin typeface="Calibri"/>
                <a:cs typeface="Calibri"/>
              </a:rPr>
              <a:t>online</a:t>
            </a:r>
            <a:r>
              <a:rPr sz="2000" spc="-85" dirty="0">
                <a:latin typeface="Calibri"/>
                <a:cs typeface="Calibri"/>
              </a:rPr>
              <a:t> </a:t>
            </a:r>
            <a:r>
              <a:rPr sz="2000" spc="-10" dirty="0">
                <a:latin typeface="Calibri"/>
                <a:cs typeface="Calibri"/>
              </a:rPr>
              <a:t>fraud.</a:t>
            </a:r>
            <a:endParaRPr sz="2000" dirty="0">
              <a:latin typeface="Calibri"/>
              <a:cs typeface="Calibri"/>
            </a:endParaRPr>
          </a:p>
          <a:p>
            <a:pPr marL="353695" indent="-340995" algn="just">
              <a:lnSpc>
                <a:spcPct val="150000"/>
              </a:lnSpc>
              <a:spcBef>
                <a:spcPts val="670"/>
              </a:spcBef>
              <a:buFont typeface="Arial MT"/>
              <a:buChar char="•"/>
              <a:tabLst>
                <a:tab pos="353695" algn="l"/>
              </a:tabLst>
            </a:pPr>
            <a:r>
              <a:rPr sz="2000" dirty="0">
                <a:latin typeface="Calibri"/>
                <a:cs typeface="Calibri"/>
              </a:rPr>
              <a:t>Improve</a:t>
            </a:r>
            <a:r>
              <a:rPr sz="2000" spc="-70" dirty="0">
                <a:latin typeface="Calibri"/>
                <a:cs typeface="Calibri"/>
              </a:rPr>
              <a:t> </a:t>
            </a:r>
            <a:r>
              <a:rPr sz="2000" dirty="0">
                <a:latin typeface="Calibri"/>
                <a:cs typeface="Calibri"/>
              </a:rPr>
              <a:t>trust</a:t>
            </a:r>
            <a:r>
              <a:rPr sz="2000" spc="-60" dirty="0">
                <a:latin typeface="Calibri"/>
                <a:cs typeface="Calibri"/>
              </a:rPr>
              <a:t> </a:t>
            </a:r>
            <a:r>
              <a:rPr sz="2000" dirty="0">
                <a:latin typeface="Calibri"/>
                <a:cs typeface="Calibri"/>
              </a:rPr>
              <a:t>in</a:t>
            </a:r>
            <a:r>
              <a:rPr sz="2000" spc="-70" dirty="0">
                <a:latin typeface="Calibri"/>
                <a:cs typeface="Calibri"/>
              </a:rPr>
              <a:t> </a:t>
            </a:r>
            <a:r>
              <a:rPr sz="2000" dirty="0">
                <a:latin typeface="Calibri"/>
                <a:cs typeface="Calibri"/>
              </a:rPr>
              <a:t>online</a:t>
            </a:r>
            <a:r>
              <a:rPr sz="2000" spc="-65" dirty="0">
                <a:latin typeface="Calibri"/>
                <a:cs typeface="Calibri"/>
              </a:rPr>
              <a:t> </a:t>
            </a:r>
            <a:r>
              <a:rPr sz="2000" dirty="0">
                <a:latin typeface="Calibri"/>
                <a:cs typeface="Calibri"/>
              </a:rPr>
              <a:t>job</a:t>
            </a:r>
            <a:r>
              <a:rPr sz="2000" spc="-75" dirty="0">
                <a:latin typeface="Calibri"/>
                <a:cs typeface="Calibri"/>
              </a:rPr>
              <a:t> </a:t>
            </a:r>
            <a:r>
              <a:rPr sz="2000" spc="-10" dirty="0">
                <a:latin typeface="Calibri"/>
                <a:cs typeface="Calibri"/>
              </a:rPr>
              <a:t>platforms.</a:t>
            </a:r>
            <a:endParaRPr sz="2000" dirty="0">
              <a:latin typeface="Calibri"/>
              <a:cs typeface="Calibri"/>
            </a:endParaRPr>
          </a:p>
          <a:p>
            <a:pPr marL="354330" marR="5080" indent="-341630" algn="just">
              <a:lnSpc>
                <a:spcPct val="150000"/>
              </a:lnSpc>
              <a:spcBef>
                <a:spcPts val="675"/>
              </a:spcBef>
              <a:buFont typeface="Arial MT"/>
              <a:buChar char="•"/>
              <a:tabLst>
                <a:tab pos="355600" algn="l"/>
              </a:tabLst>
            </a:pPr>
            <a:r>
              <a:rPr sz="2000" dirty="0">
                <a:latin typeface="Calibri"/>
                <a:cs typeface="Calibri"/>
              </a:rPr>
              <a:t>The</a:t>
            </a:r>
            <a:r>
              <a:rPr sz="2000" spc="-65" dirty="0">
                <a:latin typeface="Calibri"/>
                <a:cs typeface="Calibri"/>
              </a:rPr>
              <a:t> </a:t>
            </a:r>
            <a:r>
              <a:rPr sz="2000" spc="-10" dirty="0">
                <a:latin typeface="Calibri"/>
                <a:cs typeface="Calibri"/>
              </a:rPr>
              <a:t>system</a:t>
            </a:r>
            <a:r>
              <a:rPr sz="2000" spc="-55" dirty="0">
                <a:latin typeface="Calibri"/>
                <a:cs typeface="Calibri"/>
              </a:rPr>
              <a:t> </a:t>
            </a:r>
            <a:r>
              <a:rPr sz="2000" dirty="0">
                <a:latin typeface="Calibri"/>
                <a:cs typeface="Calibri"/>
              </a:rPr>
              <a:t>analyzes</a:t>
            </a:r>
            <a:r>
              <a:rPr sz="2000" spc="-65" dirty="0">
                <a:latin typeface="Calibri"/>
                <a:cs typeface="Calibri"/>
              </a:rPr>
              <a:t> </a:t>
            </a:r>
            <a:r>
              <a:rPr sz="2000" dirty="0">
                <a:latin typeface="Calibri"/>
                <a:cs typeface="Calibri"/>
              </a:rPr>
              <a:t>a</a:t>
            </a:r>
            <a:r>
              <a:rPr sz="2000" spc="-70" dirty="0">
                <a:latin typeface="Calibri"/>
                <a:cs typeface="Calibri"/>
              </a:rPr>
              <a:t> </a:t>
            </a:r>
            <a:r>
              <a:rPr sz="2000" dirty="0">
                <a:latin typeface="Calibri"/>
                <a:cs typeface="Calibri"/>
              </a:rPr>
              <a:t>job</a:t>
            </a:r>
            <a:r>
              <a:rPr sz="2000" spc="-55" dirty="0">
                <a:latin typeface="Calibri"/>
                <a:cs typeface="Calibri"/>
              </a:rPr>
              <a:t> </a:t>
            </a:r>
            <a:r>
              <a:rPr sz="2000" dirty="0">
                <a:latin typeface="Calibri"/>
                <a:cs typeface="Calibri"/>
              </a:rPr>
              <a:t>posting</a:t>
            </a:r>
            <a:r>
              <a:rPr sz="2000" spc="-30" dirty="0">
                <a:latin typeface="Calibri"/>
                <a:cs typeface="Calibri"/>
              </a:rPr>
              <a:t> </a:t>
            </a:r>
            <a:r>
              <a:rPr sz="2000" dirty="0">
                <a:latin typeface="Calibri"/>
                <a:cs typeface="Calibri"/>
              </a:rPr>
              <a:t>and</a:t>
            </a:r>
            <a:r>
              <a:rPr sz="2000" spc="-60" dirty="0">
                <a:latin typeface="Calibri"/>
                <a:cs typeface="Calibri"/>
              </a:rPr>
              <a:t> </a:t>
            </a:r>
            <a:r>
              <a:rPr sz="2000" dirty="0">
                <a:latin typeface="Calibri"/>
                <a:cs typeface="Calibri"/>
              </a:rPr>
              <a:t>classifies</a:t>
            </a:r>
            <a:r>
              <a:rPr sz="2000" spc="-45" dirty="0">
                <a:latin typeface="Calibri"/>
                <a:cs typeface="Calibri"/>
              </a:rPr>
              <a:t> </a:t>
            </a:r>
            <a:r>
              <a:rPr sz="2000" dirty="0">
                <a:latin typeface="Calibri"/>
                <a:cs typeface="Calibri"/>
              </a:rPr>
              <a:t>it</a:t>
            </a:r>
            <a:r>
              <a:rPr sz="2000" spc="-65" dirty="0">
                <a:latin typeface="Calibri"/>
                <a:cs typeface="Calibri"/>
              </a:rPr>
              <a:t> </a:t>
            </a:r>
            <a:r>
              <a:rPr sz="2000" dirty="0">
                <a:latin typeface="Calibri"/>
                <a:cs typeface="Calibri"/>
              </a:rPr>
              <a:t>as</a:t>
            </a:r>
            <a:r>
              <a:rPr sz="2000" spc="-70" dirty="0">
                <a:latin typeface="Calibri"/>
                <a:cs typeface="Calibri"/>
              </a:rPr>
              <a:t> </a:t>
            </a:r>
            <a:r>
              <a:rPr sz="2000" spc="-20" dirty="0">
                <a:latin typeface="Calibri"/>
                <a:cs typeface="Calibri"/>
              </a:rPr>
              <a:t>Real </a:t>
            </a:r>
            <a:r>
              <a:rPr sz="2000" dirty="0">
                <a:latin typeface="Calibri"/>
                <a:cs typeface="Calibri"/>
              </a:rPr>
              <a:t>or</a:t>
            </a:r>
            <a:r>
              <a:rPr sz="2000" spc="-30" dirty="0">
                <a:latin typeface="Calibri"/>
                <a:cs typeface="Calibri"/>
              </a:rPr>
              <a:t> </a:t>
            </a:r>
            <a:r>
              <a:rPr sz="2000" spc="-10" dirty="0">
                <a:latin typeface="Calibri"/>
                <a:cs typeface="Calibri"/>
              </a:rPr>
              <a:t>Fake.</a:t>
            </a:r>
            <a:endParaRPr sz="2000" dirty="0">
              <a:latin typeface="Calibri"/>
              <a:cs typeface="Calibri"/>
            </a:endParaRPr>
          </a:p>
          <a:p>
            <a:pPr marL="353695" indent="-340995" algn="just">
              <a:lnSpc>
                <a:spcPct val="150000"/>
              </a:lnSpc>
              <a:spcBef>
                <a:spcPts val="675"/>
              </a:spcBef>
              <a:buFont typeface="Arial MT"/>
              <a:buChar char="•"/>
              <a:tabLst>
                <a:tab pos="353695" algn="l"/>
              </a:tabLst>
            </a:pPr>
            <a:r>
              <a:rPr sz="2000" dirty="0">
                <a:latin typeface="Calibri"/>
                <a:cs typeface="Calibri"/>
              </a:rPr>
              <a:t>Reduce</a:t>
            </a:r>
            <a:r>
              <a:rPr sz="2000" spc="-65" dirty="0">
                <a:latin typeface="Calibri"/>
                <a:cs typeface="Calibri"/>
              </a:rPr>
              <a:t> </a:t>
            </a:r>
            <a:r>
              <a:rPr sz="2000" dirty="0">
                <a:latin typeface="Calibri"/>
                <a:cs typeface="Calibri"/>
              </a:rPr>
              <a:t>financial</a:t>
            </a:r>
            <a:r>
              <a:rPr sz="2000" spc="-75" dirty="0">
                <a:latin typeface="Calibri"/>
                <a:cs typeface="Calibri"/>
              </a:rPr>
              <a:t> </a:t>
            </a:r>
            <a:r>
              <a:rPr sz="2000" dirty="0">
                <a:latin typeface="Calibri"/>
                <a:cs typeface="Calibri"/>
              </a:rPr>
              <a:t>and</a:t>
            </a:r>
            <a:r>
              <a:rPr sz="2000" spc="-60" dirty="0">
                <a:latin typeface="Calibri"/>
                <a:cs typeface="Calibri"/>
              </a:rPr>
              <a:t> </a:t>
            </a:r>
            <a:r>
              <a:rPr sz="2000" dirty="0">
                <a:latin typeface="Calibri"/>
                <a:cs typeface="Calibri"/>
              </a:rPr>
              <a:t>data</a:t>
            </a:r>
            <a:r>
              <a:rPr sz="2000" spc="-80" dirty="0">
                <a:latin typeface="Calibri"/>
                <a:cs typeface="Calibri"/>
              </a:rPr>
              <a:t> </a:t>
            </a:r>
            <a:r>
              <a:rPr sz="2000" dirty="0">
                <a:latin typeface="Calibri"/>
                <a:cs typeface="Calibri"/>
              </a:rPr>
              <a:t>loss</a:t>
            </a:r>
            <a:r>
              <a:rPr sz="2000" spc="-75" dirty="0">
                <a:latin typeface="Calibri"/>
                <a:cs typeface="Calibri"/>
              </a:rPr>
              <a:t> </a:t>
            </a:r>
            <a:r>
              <a:rPr sz="2000" dirty="0">
                <a:latin typeface="Calibri"/>
                <a:cs typeface="Calibri"/>
              </a:rPr>
              <a:t>caused</a:t>
            </a:r>
            <a:r>
              <a:rPr sz="2000" spc="-70" dirty="0">
                <a:latin typeface="Calibri"/>
                <a:cs typeface="Calibri"/>
              </a:rPr>
              <a:t> </a:t>
            </a:r>
            <a:r>
              <a:rPr sz="2000" dirty="0">
                <a:latin typeface="Calibri"/>
                <a:cs typeface="Calibri"/>
              </a:rPr>
              <a:t>by</a:t>
            </a:r>
            <a:r>
              <a:rPr sz="2000" spc="-75" dirty="0">
                <a:latin typeface="Calibri"/>
                <a:cs typeface="Calibri"/>
              </a:rPr>
              <a:t> </a:t>
            </a:r>
            <a:r>
              <a:rPr sz="2000" dirty="0">
                <a:latin typeface="Calibri"/>
                <a:cs typeface="Calibri"/>
              </a:rPr>
              <a:t>job</a:t>
            </a:r>
            <a:r>
              <a:rPr sz="2000" spc="-70" dirty="0">
                <a:latin typeface="Calibri"/>
                <a:cs typeface="Calibri"/>
              </a:rPr>
              <a:t> </a:t>
            </a:r>
            <a:r>
              <a:rPr sz="2000" spc="-10" dirty="0">
                <a:latin typeface="Calibri"/>
                <a:cs typeface="Calibri"/>
              </a:rPr>
              <a:t>scams.</a:t>
            </a:r>
            <a:endParaRPr lang="en-IN" sz="2000" spc="-10" dirty="0">
              <a:latin typeface="Calibri"/>
              <a:cs typeface="Calibri"/>
            </a:endParaRPr>
          </a:p>
          <a:p>
            <a:pPr marL="353695" indent="-340995" algn="just">
              <a:lnSpc>
                <a:spcPct val="150000"/>
              </a:lnSpc>
              <a:spcBef>
                <a:spcPts val="675"/>
              </a:spcBef>
              <a:buFont typeface="Arial MT"/>
              <a:buChar char="•"/>
              <a:tabLst>
                <a:tab pos="353695" algn="l"/>
              </a:tabLst>
            </a:pPr>
            <a:r>
              <a:rPr lang="en-US" sz="2000" spc="-10" dirty="0">
                <a:latin typeface="Calibri"/>
                <a:cs typeface="Calibri"/>
              </a:rPr>
              <a:t>Categorizes jobs into low, medium, and high risk</a:t>
            </a:r>
          </a:p>
          <a:p>
            <a:pPr marL="353695" indent="-340995" algn="just">
              <a:lnSpc>
                <a:spcPct val="150000"/>
              </a:lnSpc>
              <a:spcBef>
                <a:spcPts val="675"/>
              </a:spcBef>
              <a:buFont typeface="Arial MT"/>
              <a:buChar char="•"/>
              <a:tabLst>
                <a:tab pos="353695" algn="l"/>
              </a:tabLst>
            </a:pPr>
            <a:r>
              <a:rPr lang="en-US" sz="2000" spc="-10" dirty="0">
                <a:latin typeface="Calibri"/>
                <a:cs typeface="Calibri"/>
              </a:rPr>
              <a:t>Uses Explainable AI (XAI) to show reasons behind decisions</a:t>
            </a:r>
            <a:endParaRPr sz="2000" dirty="0">
              <a:latin typeface="Calibri"/>
              <a:cs typeface="Calibri"/>
            </a:endParaRPr>
          </a:p>
        </p:txBody>
      </p:sp>
      <p:pic>
        <p:nvPicPr>
          <p:cNvPr id="5" name="object 5"/>
          <p:cNvPicPr/>
          <p:nvPr/>
        </p:nvPicPr>
        <p:blipFill>
          <a:blip r:embed="rId2" cstate="print"/>
          <a:stretch>
            <a:fillRect/>
          </a:stretch>
        </p:blipFill>
        <p:spPr>
          <a:xfrm>
            <a:off x="7959090" y="182879"/>
            <a:ext cx="956309" cy="731520"/>
          </a:xfrm>
          <a:prstGeom prst="rect">
            <a:avLst/>
          </a:prstGeom>
        </p:spPr>
      </p:pic>
      <p:sp>
        <p:nvSpPr>
          <p:cNvPr id="6" name="object 6"/>
          <p:cNvSpPr txBox="1">
            <a:spLocks noGrp="1"/>
          </p:cNvSpPr>
          <p:nvPr>
            <p:ph type="ftr" sz="quarter" idx="5"/>
          </p:nvPr>
        </p:nvSpPr>
        <p:spPr>
          <a:xfrm>
            <a:off x="3647694"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7" name="object 7"/>
          <p:cNvSpPr txBox="1"/>
          <p:nvPr/>
        </p:nvSpPr>
        <p:spPr>
          <a:xfrm>
            <a:off x="8504681" y="6464680"/>
            <a:ext cx="102870" cy="178435"/>
          </a:xfrm>
          <a:prstGeom prst="rect">
            <a:avLst/>
          </a:prstGeom>
        </p:spPr>
        <p:txBody>
          <a:bodyPr vert="horz" wrap="square" lIns="0" tIns="0" rIns="0" bIns="0" rtlCol="0">
            <a:spAutoFit/>
          </a:bodyPr>
          <a:lstStyle/>
          <a:p>
            <a:pPr marL="12700">
              <a:lnSpc>
                <a:spcPts val="1240"/>
              </a:lnSpc>
            </a:pPr>
            <a:r>
              <a:rPr sz="1200" spc="-50" dirty="0">
                <a:solidFill>
                  <a:srgbClr val="888888"/>
                </a:solidFill>
                <a:latin typeface="Calibri"/>
                <a:cs typeface="Calibri"/>
              </a:rPr>
              <a:t>3</a:t>
            </a:r>
            <a:endParaRPr sz="12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74637"/>
            <a:ext cx="7391400" cy="640080"/>
          </a:xfrm>
          <a:prstGeom prst="rect">
            <a:avLst/>
          </a:prstGeom>
          <a:ln w="25400">
            <a:solidFill>
              <a:srgbClr val="4AACC5"/>
            </a:solidFill>
          </a:ln>
        </p:spPr>
        <p:txBody>
          <a:bodyPr vert="horz" wrap="square" lIns="0" tIns="60960" rIns="0" bIns="0" rtlCol="0">
            <a:spAutoFit/>
          </a:bodyPr>
          <a:lstStyle/>
          <a:p>
            <a:pPr algn="ctr">
              <a:lnSpc>
                <a:spcPct val="100000"/>
              </a:lnSpc>
              <a:spcBef>
                <a:spcPts val="480"/>
              </a:spcBef>
            </a:pPr>
            <a:r>
              <a:rPr sz="3200" dirty="0">
                <a:solidFill>
                  <a:srgbClr val="C00000"/>
                </a:solidFill>
              </a:rPr>
              <a:t>Existing</a:t>
            </a:r>
            <a:r>
              <a:rPr sz="3200" spc="-155" dirty="0">
                <a:solidFill>
                  <a:srgbClr val="C00000"/>
                </a:solidFill>
              </a:rPr>
              <a:t> </a:t>
            </a:r>
            <a:r>
              <a:rPr sz="3200" dirty="0">
                <a:solidFill>
                  <a:srgbClr val="C00000"/>
                </a:solidFill>
              </a:rPr>
              <a:t>System</a:t>
            </a:r>
            <a:r>
              <a:rPr sz="3200" spc="-125" dirty="0">
                <a:solidFill>
                  <a:srgbClr val="C00000"/>
                </a:solidFill>
              </a:rPr>
              <a:t> </a:t>
            </a:r>
            <a:r>
              <a:rPr sz="3200" dirty="0">
                <a:solidFill>
                  <a:srgbClr val="C00000"/>
                </a:solidFill>
              </a:rPr>
              <a:t>Vs</a:t>
            </a:r>
            <a:r>
              <a:rPr sz="3200" spc="-130" dirty="0">
                <a:solidFill>
                  <a:srgbClr val="C00000"/>
                </a:solidFill>
              </a:rPr>
              <a:t> </a:t>
            </a:r>
            <a:r>
              <a:rPr sz="3200" spc="-10" dirty="0">
                <a:solidFill>
                  <a:srgbClr val="C00000"/>
                </a:solidFill>
              </a:rPr>
              <a:t>Proposed</a:t>
            </a:r>
            <a:endParaRPr sz="3200" dirty="0"/>
          </a:p>
        </p:txBody>
      </p:sp>
      <p:pic>
        <p:nvPicPr>
          <p:cNvPr id="3" name="object 3"/>
          <p:cNvPicPr/>
          <p:nvPr/>
        </p:nvPicPr>
        <p:blipFill>
          <a:blip r:embed="rId2" cstate="print"/>
          <a:stretch>
            <a:fillRect/>
          </a:stretch>
        </p:blipFill>
        <p:spPr>
          <a:xfrm>
            <a:off x="7959090" y="182879"/>
            <a:ext cx="956309" cy="731520"/>
          </a:xfrm>
          <a:prstGeom prst="rect">
            <a:avLst/>
          </a:prstGeom>
        </p:spPr>
      </p:pic>
      <p:grpSp>
        <p:nvGrpSpPr>
          <p:cNvPr id="4" name="object 4"/>
          <p:cNvGrpSpPr/>
          <p:nvPr/>
        </p:nvGrpSpPr>
        <p:grpSpPr>
          <a:xfrm>
            <a:off x="126999" y="1058841"/>
            <a:ext cx="8788400" cy="5588000"/>
            <a:chOff x="215900" y="1054100"/>
            <a:chExt cx="8788400" cy="5588000"/>
          </a:xfrm>
        </p:grpSpPr>
        <p:sp>
          <p:nvSpPr>
            <p:cNvPr id="5" name="object 5"/>
            <p:cNvSpPr/>
            <p:nvPr/>
          </p:nvSpPr>
          <p:spPr>
            <a:xfrm>
              <a:off x="228600" y="1066800"/>
              <a:ext cx="8763000" cy="5562600"/>
            </a:xfrm>
            <a:custGeom>
              <a:avLst/>
              <a:gdLst/>
              <a:ahLst/>
              <a:cxnLst/>
              <a:rect l="l" t="t" r="r" b="b"/>
              <a:pathLst>
                <a:path w="8763000" h="5562600">
                  <a:moveTo>
                    <a:pt x="8763000" y="0"/>
                  </a:moveTo>
                  <a:lnTo>
                    <a:pt x="0" y="0"/>
                  </a:lnTo>
                  <a:lnTo>
                    <a:pt x="0" y="5562600"/>
                  </a:lnTo>
                  <a:lnTo>
                    <a:pt x="8763000" y="5562600"/>
                  </a:lnTo>
                  <a:lnTo>
                    <a:pt x="8763000" y="0"/>
                  </a:lnTo>
                  <a:close/>
                </a:path>
              </a:pathLst>
            </a:custGeom>
            <a:solidFill>
              <a:srgbClr val="FFFFFF"/>
            </a:solidFill>
          </p:spPr>
          <p:txBody>
            <a:bodyPr wrap="square" lIns="0" tIns="0" rIns="0" bIns="0" rtlCol="0"/>
            <a:lstStyle/>
            <a:p>
              <a:endParaRPr/>
            </a:p>
          </p:txBody>
        </p:sp>
        <p:sp>
          <p:nvSpPr>
            <p:cNvPr id="6" name="object 6"/>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grpSp>
      <p:sp>
        <p:nvSpPr>
          <p:cNvPr id="7" name="object 7"/>
          <p:cNvSpPr txBox="1"/>
          <p:nvPr/>
        </p:nvSpPr>
        <p:spPr>
          <a:xfrm>
            <a:off x="307340" y="991638"/>
            <a:ext cx="8579485" cy="5376280"/>
          </a:xfrm>
          <a:prstGeom prst="rect">
            <a:avLst/>
          </a:prstGeom>
        </p:spPr>
        <p:txBody>
          <a:bodyPr vert="horz" wrap="square" lIns="0" tIns="97790" rIns="0" bIns="0" rtlCol="0">
            <a:spAutoFit/>
          </a:bodyPr>
          <a:lstStyle/>
          <a:p>
            <a:pPr marL="12700">
              <a:lnSpc>
                <a:spcPct val="150000"/>
              </a:lnSpc>
              <a:spcBef>
                <a:spcPts val="770"/>
              </a:spcBef>
            </a:pPr>
            <a:r>
              <a:rPr sz="2800" b="1" dirty="0">
                <a:latin typeface="Calibri"/>
                <a:cs typeface="Calibri"/>
              </a:rPr>
              <a:t>Existing</a:t>
            </a:r>
            <a:r>
              <a:rPr sz="2800" b="1" spc="-100" dirty="0">
                <a:latin typeface="Calibri"/>
                <a:cs typeface="Calibri"/>
              </a:rPr>
              <a:t> </a:t>
            </a:r>
            <a:r>
              <a:rPr sz="2800" b="1" spc="-10" dirty="0">
                <a:latin typeface="Calibri"/>
                <a:cs typeface="Calibri"/>
              </a:rPr>
              <a:t>System</a:t>
            </a:r>
            <a:endParaRPr sz="2800" dirty="0">
              <a:latin typeface="Calibri"/>
              <a:cs typeface="Calibri"/>
            </a:endParaRPr>
          </a:p>
          <a:p>
            <a:pPr marL="355600" marR="5080" indent="-342900" algn="just">
              <a:lnSpc>
                <a:spcPct val="150000"/>
              </a:lnSpc>
              <a:spcBef>
                <a:spcPts val="670"/>
              </a:spcBef>
              <a:buFont typeface="Arial MT"/>
              <a:buChar char="•"/>
              <a:tabLst>
                <a:tab pos="355600" algn="l"/>
              </a:tabLst>
            </a:pPr>
            <a:r>
              <a:rPr sz="2000" dirty="0">
                <a:latin typeface="Calibri"/>
                <a:cs typeface="Calibri"/>
              </a:rPr>
              <a:t>Existing</a:t>
            </a:r>
            <a:r>
              <a:rPr sz="2000" spc="-75" dirty="0">
                <a:latin typeface="Calibri"/>
                <a:cs typeface="Calibri"/>
              </a:rPr>
              <a:t> </a:t>
            </a:r>
            <a:r>
              <a:rPr sz="2000" spc="-20" dirty="0">
                <a:latin typeface="Calibri"/>
                <a:cs typeface="Calibri"/>
              </a:rPr>
              <a:t>systems</a:t>
            </a:r>
            <a:r>
              <a:rPr sz="2000" spc="-60" dirty="0">
                <a:latin typeface="Calibri"/>
                <a:cs typeface="Calibri"/>
              </a:rPr>
              <a:t> </a:t>
            </a:r>
            <a:r>
              <a:rPr sz="2000" dirty="0">
                <a:latin typeface="Calibri"/>
                <a:cs typeface="Calibri"/>
              </a:rPr>
              <a:t>mainly</a:t>
            </a:r>
            <a:r>
              <a:rPr sz="2000" spc="-60" dirty="0">
                <a:latin typeface="Calibri"/>
                <a:cs typeface="Calibri"/>
              </a:rPr>
              <a:t> </a:t>
            </a:r>
            <a:r>
              <a:rPr sz="2000" dirty="0">
                <a:latin typeface="Calibri"/>
                <a:cs typeface="Calibri"/>
              </a:rPr>
              <a:t>rely</a:t>
            </a:r>
            <a:r>
              <a:rPr sz="2000" spc="-70" dirty="0">
                <a:latin typeface="Calibri"/>
                <a:cs typeface="Calibri"/>
              </a:rPr>
              <a:t> </a:t>
            </a:r>
            <a:r>
              <a:rPr sz="2000" dirty="0">
                <a:latin typeface="Calibri"/>
                <a:cs typeface="Calibri"/>
              </a:rPr>
              <a:t>on</a:t>
            </a:r>
            <a:r>
              <a:rPr sz="2000" spc="-75" dirty="0">
                <a:latin typeface="Calibri"/>
                <a:cs typeface="Calibri"/>
              </a:rPr>
              <a:t> </a:t>
            </a:r>
            <a:r>
              <a:rPr sz="2000" dirty="0">
                <a:latin typeface="Calibri"/>
                <a:cs typeface="Calibri"/>
              </a:rPr>
              <a:t>manual</a:t>
            </a:r>
            <a:r>
              <a:rPr sz="2000" spc="-55" dirty="0">
                <a:latin typeface="Calibri"/>
                <a:cs typeface="Calibri"/>
              </a:rPr>
              <a:t> </a:t>
            </a:r>
            <a:r>
              <a:rPr sz="2000" dirty="0">
                <a:latin typeface="Calibri"/>
                <a:cs typeface="Calibri"/>
              </a:rPr>
              <a:t>verification</a:t>
            </a:r>
            <a:r>
              <a:rPr sz="2000" spc="-75" dirty="0">
                <a:latin typeface="Calibri"/>
                <a:cs typeface="Calibri"/>
              </a:rPr>
              <a:t> </a:t>
            </a:r>
            <a:r>
              <a:rPr sz="2000" dirty="0">
                <a:latin typeface="Calibri"/>
                <a:cs typeface="Calibri"/>
              </a:rPr>
              <a:t>of</a:t>
            </a:r>
            <a:r>
              <a:rPr sz="2000" spc="-75" dirty="0">
                <a:latin typeface="Calibri"/>
                <a:cs typeface="Calibri"/>
              </a:rPr>
              <a:t> </a:t>
            </a:r>
            <a:r>
              <a:rPr sz="2000" spc="-25" dirty="0">
                <a:latin typeface="Calibri"/>
                <a:cs typeface="Calibri"/>
              </a:rPr>
              <a:t>job </a:t>
            </a:r>
            <a:r>
              <a:rPr sz="2000" spc="-10" dirty="0">
                <a:latin typeface="Calibri"/>
                <a:cs typeface="Calibri"/>
              </a:rPr>
              <a:t>postings.</a:t>
            </a:r>
            <a:endParaRPr sz="2000" dirty="0">
              <a:latin typeface="Calibri"/>
              <a:cs typeface="Calibri"/>
            </a:endParaRPr>
          </a:p>
          <a:p>
            <a:pPr marL="354965" indent="-342265" algn="just">
              <a:lnSpc>
                <a:spcPct val="150000"/>
              </a:lnSpc>
              <a:spcBef>
                <a:spcPts val="675"/>
              </a:spcBef>
              <a:buFont typeface="Arial MT"/>
              <a:buChar char="•"/>
              <a:tabLst>
                <a:tab pos="354965" algn="l"/>
              </a:tabLst>
            </a:pPr>
            <a:r>
              <a:rPr sz="2000" spc="-10" dirty="0">
                <a:latin typeface="Calibri"/>
                <a:cs typeface="Calibri"/>
              </a:rPr>
              <a:t>Detection</a:t>
            </a:r>
            <a:r>
              <a:rPr sz="2000" spc="-60" dirty="0">
                <a:latin typeface="Calibri"/>
                <a:cs typeface="Calibri"/>
              </a:rPr>
              <a:t> </a:t>
            </a:r>
            <a:r>
              <a:rPr sz="2000" dirty="0">
                <a:latin typeface="Calibri"/>
                <a:cs typeface="Calibri"/>
              </a:rPr>
              <a:t>is</a:t>
            </a:r>
            <a:r>
              <a:rPr sz="2000" spc="-65" dirty="0">
                <a:latin typeface="Calibri"/>
                <a:cs typeface="Calibri"/>
              </a:rPr>
              <a:t> </a:t>
            </a:r>
            <a:r>
              <a:rPr sz="2000" dirty="0">
                <a:latin typeface="Calibri"/>
                <a:cs typeface="Calibri"/>
              </a:rPr>
              <a:t>slow</a:t>
            </a:r>
            <a:r>
              <a:rPr sz="2000" spc="-45" dirty="0">
                <a:latin typeface="Calibri"/>
                <a:cs typeface="Calibri"/>
              </a:rPr>
              <a:t> </a:t>
            </a:r>
            <a:r>
              <a:rPr sz="2000" dirty="0">
                <a:latin typeface="Calibri"/>
                <a:cs typeface="Calibri"/>
              </a:rPr>
              <a:t>and</a:t>
            </a:r>
            <a:r>
              <a:rPr sz="2000" spc="-35" dirty="0">
                <a:latin typeface="Calibri"/>
                <a:cs typeface="Calibri"/>
              </a:rPr>
              <a:t> </a:t>
            </a:r>
            <a:r>
              <a:rPr sz="2000" spc="-10" dirty="0">
                <a:latin typeface="Calibri"/>
                <a:cs typeface="Calibri"/>
              </a:rPr>
              <a:t>inconsistent</a:t>
            </a:r>
            <a:endParaRPr sz="2000" dirty="0">
              <a:latin typeface="Calibri"/>
              <a:cs typeface="Calibri"/>
            </a:endParaRPr>
          </a:p>
          <a:p>
            <a:pPr marL="355600" marR="351790" indent="-342900" algn="just">
              <a:lnSpc>
                <a:spcPct val="150000"/>
              </a:lnSpc>
              <a:spcBef>
                <a:spcPts val="670"/>
              </a:spcBef>
              <a:buFont typeface="Arial MT"/>
              <a:buChar char="•"/>
              <a:tabLst>
                <a:tab pos="355600" algn="l"/>
              </a:tabLst>
            </a:pPr>
            <a:r>
              <a:rPr sz="2000" spc="-10" dirty="0">
                <a:latin typeface="Calibri"/>
                <a:cs typeface="Calibri"/>
              </a:rPr>
              <a:t>Fraudulent</a:t>
            </a:r>
            <a:r>
              <a:rPr sz="2000" spc="-50" dirty="0">
                <a:latin typeface="Calibri"/>
                <a:cs typeface="Calibri"/>
              </a:rPr>
              <a:t> </a:t>
            </a:r>
            <a:r>
              <a:rPr sz="2000" dirty="0">
                <a:latin typeface="Calibri"/>
                <a:cs typeface="Calibri"/>
              </a:rPr>
              <a:t>job</a:t>
            </a:r>
            <a:r>
              <a:rPr sz="2000" spc="-75" dirty="0">
                <a:latin typeface="Calibri"/>
                <a:cs typeface="Calibri"/>
              </a:rPr>
              <a:t> </a:t>
            </a:r>
            <a:r>
              <a:rPr sz="2000" dirty="0">
                <a:latin typeface="Calibri"/>
                <a:cs typeface="Calibri"/>
              </a:rPr>
              <a:t>ads</a:t>
            </a:r>
            <a:r>
              <a:rPr sz="2000" spc="-75" dirty="0">
                <a:latin typeface="Calibri"/>
                <a:cs typeface="Calibri"/>
              </a:rPr>
              <a:t> </a:t>
            </a:r>
            <a:r>
              <a:rPr sz="2000" dirty="0">
                <a:latin typeface="Calibri"/>
                <a:cs typeface="Calibri"/>
              </a:rPr>
              <a:t>may</a:t>
            </a:r>
            <a:r>
              <a:rPr sz="2000" spc="-90" dirty="0">
                <a:latin typeface="Calibri"/>
                <a:cs typeface="Calibri"/>
              </a:rPr>
              <a:t> </a:t>
            </a:r>
            <a:r>
              <a:rPr sz="2000" dirty="0">
                <a:latin typeface="Calibri"/>
                <a:cs typeface="Calibri"/>
              </a:rPr>
              <a:t>reach</a:t>
            </a:r>
            <a:r>
              <a:rPr sz="2000" spc="-90" dirty="0">
                <a:latin typeface="Calibri"/>
                <a:cs typeface="Calibri"/>
              </a:rPr>
              <a:t> </a:t>
            </a:r>
            <a:r>
              <a:rPr sz="2000" dirty="0">
                <a:latin typeface="Calibri"/>
                <a:cs typeface="Calibri"/>
              </a:rPr>
              <a:t>job</a:t>
            </a:r>
            <a:r>
              <a:rPr sz="2000" spc="-80" dirty="0">
                <a:latin typeface="Calibri"/>
                <a:cs typeface="Calibri"/>
              </a:rPr>
              <a:t> </a:t>
            </a:r>
            <a:r>
              <a:rPr sz="2000" spc="-10" dirty="0">
                <a:latin typeface="Calibri"/>
                <a:cs typeface="Calibri"/>
              </a:rPr>
              <a:t>seekers</a:t>
            </a:r>
            <a:r>
              <a:rPr sz="2000" spc="-80" dirty="0">
                <a:latin typeface="Calibri"/>
                <a:cs typeface="Calibri"/>
              </a:rPr>
              <a:t> </a:t>
            </a:r>
            <a:r>
              <a:rPr sz="2000" spc="-10" dirty="0">
                <a:latin typeface="Calibri"/>
                <a:cs typeface="Calibri"/>
              </a:rPr>
              <a:t>before</a:t>
            </a:r>
            <a:r>
              <a:rPr sz="2000" spc="-85" dirty="0">
                <a:latin typeface="Calibri"/>
                <a:cs typeface="Calibri"/>
              </a:rPr>
              <a:t> </a:t>
            </a:r>
            <a:r>
              <a:rPr sz="2000" spc="-10" dirty="0">
                <a:latin typeface="Calibri"/>
                <a:cs typeface="Calibri"/>
              </a:rPr>
              <a:t>being</a:t>
            </a:r>
            <a:r>
              <a:rPr lang="en-IN" sz="2000" spc="-10" dirty="0">
                <a:latin typeface="Calibri"/>
                <a:cs typeface="Calibri"/>
              </a:rPr>
              <a:t> </a:t>
            </a:r>
            <a:r>
              <a:rPr sz="2000" spc="-10" dirty="0">
                <a:latin typeface="Calibri"/>
                <a:cs typeface="Calibri"/>
              </a:rPr>
              <a:t>removed.</a:t>
            </a:r>
            <a:endParaRPr sz="2000" dirty="0">
              <a:latin typeface="Calibri"/>
              <a:cs typeface="Calibri"/>
            </a:endParaRPr>
          </a:p>
          <a:p>
            <a:pPr marL="12700" algn="just">
              <a:lnSpc>
                <a:spcPct val="150000"/>
              </a:lnSpc>
              <a:spcBef>
                <a:spcPts val="675"/>
              </a:spcBef>
            </a:pPr>
            <a:r>
              <a:rPr sz="2800" b="1" dirty="0">
                <a:latin typeface="Calibri"/>
                <a:cs typeface="Calibri"/>
              </a:rPr>
              <a:t>Proposed</a:t>
            </a:r>
            <a:r>
              <a:rPr sz="2800" b="1" spc="-114" dirty="0">
                <a:latin typeface="Calibri"/>
                <a:cs typeface="Calibri"/>
              </a:rPr>
              <a:t> </a:t>
            </a:r>
            <a:r>
              <a:rPr sz="2800" b="1" spc="-10" dirty="0">
                <a:latin typeface="Calibri"/>
                <a:cs typeface="Calibri"/>
              </a:rPr>
              <a:t>System</a:t>
            </a:r>
            <a:endParaRPr sz="2800" dirty="0">
              <a:latin typeface="Calibri"/>
              <a:cs typeface="Calibri"/>
            </a:endParaRPr>
          </a:p>
          <a:p>
            <a:pPr marL="354965" indent="-342265" algn="just">
              <a:lnSpc>
                <a:spcPct val="150000"/>
              </a:lnSpc>
              <a:spcBef>
                <a:spcPts val="675"/>
              </a:spcBef>
              <a:buFont typeface="Arial MT"/>
              <a:buChar char="•"/>
              <a:tabLst>
                <a:tab pos="354965" algn="l"/>
              </a:tabLst>
            </a:pPr>
            <a:r>
              <a:rPr sz="2000" spc="-10" dirty="0">
                <a:latin typeface="Calibri"/>
                <a:cs typeface="Calibri"/>
              </a:rPr>
              <a:t>Faster</a:t>
            </a:r>
            <a:r>
              <a:rPr sz="2000" spc="-85" dirty="0">
                <a:latin typeface="Calibri"/>
                <a:cs typeface="Calibri"/>
              </a:rPr>
              <a:t> </a:t>
            </a:r>
            <a:r>
              <a:rPr sz="2000" dirty="0">
                <a:latin typeface="Calibri"/>
                <a:cs typeface="Calibri"/>
              </a:rPr>
              <a:t>and</a:t>
            </a:r>
            <a:r>
              <a:rPr sz="2000" spc="-75" dirty="0">
                <a:latin typeface="Calibri"/>
                <a:cs typeface="Calibri"/>
              </a:rPr>
              <a:t> </a:t>
            </a:r>
            <a:r>
              <a:rPr sz="2000" dirty="0">
                <a:latin typeface="Calibri"/>
                <a:cs typeface="Calibri"/>
              </a:rPr>
              <a:t>more</a:t>
            </a:r>
            <a:r>
              <a:rPr sz="2000" spc="-85" dirty="0">
                <a:latin typeface="Calibri"/>
                <a:cs typeface="Calibri"/>
              </a:rPr>
              <a:t> </a:t>
            </a:r>
            <a:r>
              <a:rPr sz="2000" spc="-10" dirty="0">
                <a:latin typeface="Calibri"/>
                <a:cs typeface="Calibri"/>
              </a:rPr>
              <a:t>accurate</a:t>
            </a:r>
            <a:r>
              <a:rPr sz="2000" spc="-90" dirty="0">
                <a:latin typeface="Calibri"/>
                <a:cs typeface="Calibri"/>
              </a:rPr>
              <a:t> </a:t>
            </a:r>
            <a:r>
              <a:rPr sz="2000" dirty="0">
                <a:latin typeface="Calibri"/>
                <a:cs typeface="Calibri"/>
              </a:rPr>
              <a:t>scam</a:t>
            </a:r>
            <a:r>
              <a:rPr sz="2000" spc="-75" dirty="0">
                <a:latin typeface="Calibri"/>
                <a:cs typeface="Calibri"/>
              </a:rPr>
              <a:t> </a:t>
            </a:r>
            <a:r>
              <a:rPr sz="2000" spc="-10" dirty="0">
                <a:latin typeface="Calibri"/>
                <a:cs typeface="Calibri"/>
              </a:rPr>
              <a:t>detection.</a:t>
            </a:r>
            <a:endParaRPr sz="2000" dirty="0">
              <a:latin typeface="Calibri"/>
              <a:cs typeface="Calibri"/>
            </a:endParaRPr>
          </a:p>
          <a:p>
            <a:pPr marL="354965" indent="-342265" algn="just">
              <a:lnSpc>
                <a:spcPct val="150000"/>
              </a:lnSpc>
              <a:spcBef>
                <a:spcPts val="670"/>
              </a:spcBef>
              <a:buFont typeface="Arial MT"/>
              <a:buChar char="•"/>
              <a:tabLst>
                <a:tab pos="354965" algn="l"/>
              </a:tabLst>
            </a:pPr>
            <a:r>
              <a:rPr sz="2000" spc="-10" dirty="0">
                <a:latin typeface="Calibri"/>
                <a:cs typeface="Calibri"/>
              </a:rPr>
              <a:t>Generates</a:t>
            </a:r>
            <a:r>
              <a:rPr sz="2000" spc="-50" dirty="0">
                <a:latin typeface="Calibri"/>
                <a:cs typeface="Calibri"/>
              </a:rPr>
              <a:t> </a:t>
            </a:r>
            <a:r>
              <a:rPr sz="2000" dirty="0">
                <a:latin typeface="Calibri"/>
                <a:cs typeface="Calibri"/>
              </a:rPr>
              <a:t>a</a:t>
            </a:r>
            <a:r>
              <a:rPr sz="2000" spc="-65" dirty="0">
                <a:latin typeface="Calibri"/>
                <a:cs typeface="Calibri"/>
              </a:rPr>
              <a:t> </a:t>
            </a:r>
            <a:r>
              <a:rPr sz="2000" dirty="0">
                <a:latin typeface="Calibri"/>
                <a:cs typeface="Calibri"/>
              </a:rPr>
              <a:t>risk</a:t>
            </a:r>
            <a:r>
              <a:rPr sz="2000" spc="-35" dirty="0">
                <a:latin typeface="Calibri"/>
                <a:cs typeface="Calibri"/>
              </a:rPr>
              <a:t> </a:t>
            </a:r>
            <a:r>
              <a:rPr sz="2000" dirty="0">
                <a:latin typeface="Calibri"/>
                <a:cs typeface="Calibri"/>
              </a:rPr>
              <a:t>score</a:t>
            </a:r>
            <a:r>
              <a:rPr sz="2000" spc="-55" dirty="0">
                <a:latin typeface="Calibri"/>
                <a:cs typeface="Calibri"/>
              </a:rPr>
              <a:t> </a:t>
            </a:r>
            <a:r>
              <a:rPr sz="2000" dirty="0">
                <a:latin typeface="Calibri"/>
                <a:cs typeface="Calibri"/>
              </a:rPr>
              <a:t>for</a:t>
            </a:r>
            <a:r>
              <a:rPr sz="2000" spc="-50" dirty="0">
                <a:latin typeface="Calibri"/>
                <a:cs typeface="Calibri"/>
              </a:rPr>
              <a:t> </a:t>
            </a:r>
            <a:r>
              <a:rPr sz="2000" dirty="0">
                <a:latin typeface="Calibri"/>
                <a:cs typeface="Calibri"/>
              </a:rPr>
              <a:t>each</a:t>
            </a:r>
            <a:r>
              <a:rPr sz="2000" spc="-60" dirty="0">
                <a:latin typeface="Calibri"/>
                <a:cs typeface="Calibri"/>
              </a:rPr>
              <a:t> </a:t>
            </a:r>
            <a:r>
              <a:rPr sz="2000" dirty="0">
                <a:latin typeface="Calibri"/>
                <a:cs typeface="Calibri"/>
              </a:rPr>
              <a:t>job</a:t>
            </a:r>
            <a:r>
              <a:rPr sz="2000" spc="-50" dirty="0">
                <a:latin typeface="Calibri"/>
                <a:cs typeface="Calibri"/>
              </a:rPr>
              <a:t> </a:t>
            </a:r>
            <a:r>
              <a:rPr sz="2000" spc="-10" dirty="0">
                <a:latin typeface="Calibri"/>
                <a:cs typeface="Calibri"/>
              </a:rPr>
              <a:t>post.</a:t>
            </a:r>
            <a:endParaRPr sz="2000" dirty="0">
              <a:latin typeface="Calibri"/>
              <a:cs typeface="Calibri"/>
            </a:endParaRPr>
          </a:p>
          <a:p>
            <a:pPr marL="355600" marR="881380" indent="-342900" algn="just">
              <a:lnSpc>
                <a:spcPct val="150000"/>
              </a:lnSpc>
              <a:spcBef>
                <a:spcPts val="675"/>
              </a:spcBef>
              <a:buFont typeface="Arial MT"/>
              <a:buChar char="•"/>
              <a:tabLst>
                <a:tab pos="355600" algn="l"/>
              </a:tabLst>
            </a:pPr>
            <a:r>
              <a:rPr lang="en-IN" sz="2000" dirty="0">
                <a:latin typeface="Calibri"/>
                <a:cs typeface="Calibri"/>
              </a:rPr>
              <a:t>W</a:t>
            </a:r>
            <a:r>
              <a:rPr sz="2000" dirty="0" err="1">
                <a:latin typeface="Calibri"/>
                <a:cs typeface="Calibri"/>
              </a:rPr>
              <a:t>arn</a:t>
            </a:r>
            <a:r>
              <a:rPr lang="en-IN" sz="2000" dirty="0">
                <a:latin typeface="Calibri"/>
                <a:cs typeface="Calibri"/>
              </a:rPr>
              <a:t>s</a:t>
            </a:r>
            <a:r>
              <a:rPr sz="2000" spc="-100" dirty="0">
                <a:latin typeface="Calibri"/>
                <a:cs typeface="Calibri"/>
              </a:rPr>
              <a:t> </a:t>
            </a:r>
            <a:r>
              <a:rPr lang="en-IN" sz="2000" spc="-100" dirty="0">
                <a:latin typeface="Calibri"/>
                <a:cs typeface="Calibri"/>
              </a:rPr>
              <a:t>the </a:t>
            </a:r>
            <a:r>
              <a:rPr sz="2000" dirty="0">
                <a:latin typeface="Calibri"/>
                <a:cs typeface="Calibri"/>
              </a:rPr>
              <a:t>users</a:t>
            </a:r>
            <a:r>
              <a:rPr sz="2000" spc="-85" dirty="0">
                <a:latin typeface="Calibri"/>
                <a:cs typeface="Calibri"/>
              </a:rPr>
              <a:t> </a:t>
            </a:r>
            <a:r>
              <a:rPr sz="2000" spc="-10" dirty="0">
                <a:latin typeface="Calibri"/>
                <a:cs typeface="Calibri"/>
              </a:rPr>
              <a:t>before</a:t>
            </a:r>
            <a:r>
              <a:rPr sz="2000" spc="-105" dirty="0">
                <a:latin typeface="Calibri"/>
                <a:cs typeface="Calibri"/>
              </a:rPr>
              <a:t> </a:t>
            </a:r>
            <a:r>
              <a:rPr sz="2000" dirty="0">
                <a:latin typeface="Calibri"/>
                <a:cs typeface="Calibri"/>
              </a:rPr>
              <a:t>they</a:t>
            </a:r>
            <a:r>
              <a:rPr sz="2000" spc="-100" dirty="0">
                <a:latin typeface="Calibri"/>
                <a:cs typeface="Calibri"/>
              </a:rPr>
              <a:t> </a:t>
            </a:r>
            <a:r>
              <a:rPr sz="2000" spc="-10" dirty="0">
                <a:latin typeface="Calibri"/>
                <a:cs typeface="Calibri"/>
              </a:rPr>
              <a:t>interact</a:t>
            </a:r>
            <a:r>
              <a:rPr sz="2000" spc="-105" dirty="0">
                <a:latin typeface="Calibri"/>
                <a:cs typeface="Calibri"/>
              </a:rPr>
              <a:t> </a:t>
            </a:r>
            <a:r>
              <a:rPr sz="2000" dirty="0">
                <a:latin typeface="Calibri"/>
                <a:cs typeface="Calibri"/>
              </a:rPr>
              <a:t>with</a:t>
            </a:r>
            <a:r>
              <a:rPr sz="2000" spc="-100" dirty="0">
                <a:latin typeface="Calibri"/>
                <a:cs typeface="Calibri"/>
              </a:rPr>
              <a:t> </a:t>
            </a:r>
            <a:r>
              <a:rPr sz="2000" dirty="0">
                <a:latin typeface="Calibri"/>
                <a:cs typeface="Calibri"/>
              </a:rPr>
              <a:t>suspicious</a:t>
            </a:r>
            <a:r>
              <a:rPr sz="2000" spc="-55" dirty="0">
                <a:latin typeface="Calibri"/>
                <a:cs typeface="Calibri"/>
              </a:rPr>
              <a:t> </a:t>
            </a:r>
            <a:r>
              <a:rPr sz="2000" spc="-25" dirty="0">
                <a:latin typeface="Calibri"/>
                <a:cs typeface="Calibri"/>
              </a:rPr>
              <a:t>job </a:t>
            </a:r>
            <a:r>
              <a:rPr sz="2000" spc="-10" dirty="0">
                <a:latin typeface="Calibri"/>
                <a:cs typeface="Calibri"/>
              </a:rPr>
              <a:t>postings</a:t>
            </a:r>
            <a:endParaRPr lang="en-IN" sz="2000" spc="-10" dirty="0">
              <a:latin typeface="Calibri"/>
              <a:cs typeface="Calibri"/>
            </a:endParaRPr>
          </a:p>
          <a:p>
            <a:pPr marL="355600" marR="881380" indent="-342900" algn="just">
              <a:lnSpc>
                <a:spcPct val="150000"/>
              </a:lnSpc>
              <a:spcBef>
                <a:spcPts val="675"/>
              </a:spcBef>
              <a:buFont typeface="Arial MT"/>
              <a:buChar char="•"/>
              <a:tabLst>
                <a:tab pos="355600" algn="l"/>
              </a:tabLst>
            </a:pPr>
            <a:r>
              <a:rPr lang="en-IN" sz="2000" spc="-10" dirty="0">
                <a:latin typeface="Calibri"/>
                <a:cs typeface="Calibri"/>
              </a:rPr>
              <a:t>Gives real job posting links and websites</a:t>
            </a:r>
            <a:endParaRPr sz="2000" dirty="0">
              <a:latin typeface="Calibri"/>
              <a:cs typeface="Calibri"/>
            </a:endParaRPr>
          </a:p>
        </p:txBody>
      </p:sp>
      <p:sp>
        <p:nvSpPr>
          <p:cNvPr id="10" name="object 5">
            <a:extLst>
              <a:ext uri="{FF2B5EF4-FFF2-40B4-BE49-F238E27FC236}">
                <a16:creationId xmlns:a16="http://schemas.microsoft.com/office/drawing/2014/main" id="{9084B76F-A5E7-A5E1-6533-2F066E996D82}"/>
              </a:ext>
            </a:extLst>
          </p:cNvPr>
          <p:cNvSpPr txBox="1">
            <a:spLocks noGrp="1"/>
          </p:cNvSpPr>
          <p:nvPr>
            <p:ph type="ftr" sz="quarter" idx="5"/>
          </p:nvPr>
        </p:nvSpPr>
        <p:spPr>
          <a:xfrm>
            <a:off x="3505200" y="6427295"/>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74637"/>
            <a:ext cx="7391400" cy="640080"/>
          </a:xfrm>
          <a:prstGeom prst="rect">
            <a:avLst/>
          </a:prstGeom>
          <a:ln w="25400">
            <a:solidFill>
              <a:srgbClr val="4AACC5"/>
            </a:solidFill>
          </a:ln>
        </p:spPr>
        <p:txBody>
          <a:bodyPr vert="horz" wrap="square" lIns="0" tIns="60960" rIns="0" bIns="0" rtlCol="0">
            <a:spAutoFit/>
          </a:bodyPr>
          <a:lstStyle/>
          <a:p>
            <a:pPr marL="635" algn="ctr">
              <a:lnSpc>
                <a:spcPct val="100000"/>
              </a:lnSpc>
              <a:spcBef>
                <a:spcPts val="480"/>
              </a:spcBef>
            </a:pPr>
            <a:r>
              <a:rPr sz="3200" dirty="0">
                <a:solidFill>
                  <a:srgbClr val="C00000"/>
                </a:solidFill>
              </a:rPr>
              <a:t>Proposed</a:t>
            </a:r>
            <a:r>
              <a:rPr sz="3200" spc="-80" dirty="0">
                <a:solidFill>
                  <a:srgbClr val="C00000"/>
                </a:solidFill>
              </a:rPr>
              <a:t> </a:t>
            </a:r>
            <a:r>
              <a:rPr sz="3200" dirty="0">
                <a:solidFill>
                  <a:srgbClr val="C00000"/>
                </a:solidFill>
              </a:rPr>
              <a:t>Project</a:t>
            </a:r>
            <a:r>
              <a:rPr sz="3200" spc="-45" dirty="0">
                <a:solidFill>
                  <a:srgbClr val="C00000"/>
                </a:solidFill>
              </a:rPr>
              <a:t> </a:t>
            </a:r>
            <a:r>
              <a:rPr sz="3200" spc="-10" dirty="0">
                <a:solidFill>
                  <a:srgbClr val="C00000"/>
                </a:solidFill>
              </a:rPr>
              <a:t>Objectives</a:t>
            </a:r>
            <a:endParaRPr sz="3200"/>
          </a:p>
        </p:txBody>
      </p:sp>
      <p:sp>
        <p:nvSpPr>
          <p:cNvPr id="3" name="object 3"/>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
        <p:nvSpPr>
          <p:cNvPr id="4" name="object 4"/>
          <p:cNvSpPr txBox="1"/>
          <p:nvPr/>
        </p:nvSpPr>
        <p:spPr>
          <a:xfrm>
            <a:off x="381001" y="1295400"/>
            <a:ext cx="8382000" cy="3491084"/>
          </a:xfrm>
          <a:prstGeom prst="rect">
            <a:avLst/>
          </a:prstGeom>
        </p:spPr>
        <p:txBody>
          <a:bodyPr vert="horz" wrap="square" lIns="0" tIns="12065" rIns="0" bIns="0" rtlCol="0">
            <a:spAutoFit/>
          </a:bodyPr>
          <a:lstStyle/>
          <a:p>
            <a:pPr marL="355600" marR="27940" indent="-342900" algn="just">
              <a:lnSpc>
                <a:spcPct val="150000"/>
              </a:lnSpc>
              <a:spcBef>
                <a:spcPts val="1190"/>
              </a:spcBef>
              <a:buFont typeface="Arial MT"/>
              <a:buChar char="•"/>
              <a:tabLst>
                <a:tab pos="355600" algn="l"/>
              </a:tabLst>
            </a:pPr>
            <a:r>
              <a:rPr lang="en-US" sz="2000" spc="-114" dirty="0">
                <a:latin typeface="Calibri"/>
                <a:cs typeface="Calibri"/>
              </a:rPr>
              <a:t>To develop an AI-based system for detecting fake job postings.</a:t>
            </a:r>
          </a:p>
          <a:p>
            <a:pPr marL="355600" marR="27940" indent="-342900" algn="just">
              <a:lnSpc>
                <a:spcPct val="150000"/>
              </a:lnSpc>
              <a:spcBef>
                <a:spcPts val="1190"/>
              </a:spcBef>
              <a:buFont typeface="Arial MT"/>
              <a:buChar char="•"/>
              <a:tabLst>
                <a:tab pos="355600" algn="l"/>
              </a:tabLst>
            </a:pPr>
            <a:r>
              <a:rPr sz="2000" spc="-114" dirty="0">
                <a:latin typeface="Calibri"/>
                <a:cs typeface="Calibri"/>
              </a:rPr>
              <a:t>To</a:t>
            </a:r>
            <a:r>
              <a:rPr sz="2000" spc="-45" dirty="0">
                <a:latin typeface="Calibri"/>
                <a:cs typeface="Calibri"/>
              </a:rPr>
              <a:t> </a:t>
            </a:r>
            <a:r>
              <a:rPr sz="2000" dirty="0">
                <a:latin typeface="Calibri"/>
                <a:cs typeface="Calibri"/>
              </a:rPr>
              <a:t>provide</a:t>
            </a:r>
            <a:r>
              <a:rPr sz="2000" spc="-110" dirty="0">
                <a:latin typeface="Calibri"/>
                <a:cs typeface="Calibri"/>
              </a:rPr>
              <a:t> </a:t>
            </a:r>
            <a:r>
              <a:rPr sz="2000" spc="-10" dirty="0">
                <a:latin typeface="Calibri"/>
                <a:cs typeface="Calibri"/>
              </a:rPr>
              <a:t>instant</a:t>
            </a:r>
            <a:r>
              <a:rPr sz="2000" spc="-50" dirty="0">
                <a:latin typeface="Calibri"/>
                <a:cs typeface="Calibri"/>
              </a:rPr>
              <a:t> </a:t>
            </a:r>
            <a:r>
              <a:rPr sz="2000" spc="-10" dirty="0">
                <a:latin typeface="Calibri"/>
                <a:cs typeface="Calibri"/>
              </a:rPr>
              <a:t>feedback</a:t>
            </a:r>
            <a:r>
              <a:rPr sz="2000" spc="-75" dirty="0">
                <a:latin typeface="Calibri"/>
                <a:cs typeface="Calibri"/>
              </a:rPr>
              <a:t> </a:t>
            </a:r>
            <a:r>
              <a:rPr sz="2000" dirty="0">
                <a:latin typeface="Calibri"/>
                <a:cs typeface="Calibri"/>
              </a:rPr>
              <a:t>about</a:t>
            </a:r>
            <a:r>
              <a:rPr sz="2000" spc="-75" dirty="0">
                <a:latin typeface="Calibri"/>
                <a:cs typeface="Calibri"/>
              </a:rPr>
              <a:t> </a:t>
            </a:r>
            <a:r>
              <a:rPr sz="2000" dirty="0">
                <a:latin typeface="Calibri"/>
                <a:cs typeface="Calibri"/>
              </a:rPr>
              <a:t>the</a:t>
            </a:r>
            <a:r>
              <a:rPr sz="2000" spc="-80" dirty="0">
                <a:latin typeface="Calibri"/>
                <a:cs typeface="Calibri"/>
              </a:rPr>
              <a:t> </a:t>
            </a:r>
            <a:r>
              <a:rPr sz="2000" dirty="0">
                <a:latin typeface="Calibri"/>
                <a:cs typeface="Calibri"/>
              </a:rPr>
              <a:t>authenticity</a:t>
            </a:r>
            <a:r>
              <a:rPr sz="2000" spc="-55" dirty="0">
                <a:latin typeface="Calibri"/>
                <a:cs typeface="Calibri"/>
              </a:rPr>
              <a:t> </a:t>
            </a:r>
            <a:r>
              <a:rPr sz="2000" dirty="0">
                <a:latin typeface="Calibri"/>
                <a:cs typeface="Calibri"/>
              </a:rPr>
              <a:t>of</a:t>
            </a:r>
            <a:r>
              <a:rPr sz="2000" spc="-90" dirty="0">
                <a:latin typeface="Calibri"/>
                <a:cs typeface="Calibri"/>
              </a:rPr>
              <a:t> </a:t>
            </a:r>
            <a:r>
              <a:rPr sz="2000" spc="-25" dirty="0">
                <a:latin typeface="Calibri"/>
                <a:cs typeface="Calibri"/>
              </a:rPr>
              <a:t>job </a:t>
            </a:r>
            <a:r>
              <a:rPr sz="2000" spc="-10" dirty="0">
                <a:latin typeface="Calibri"/>
                <a:cs typeface="Calibri"/>
              </a:rPr>
              <a:t>postings.</a:t>
            </a:r>
            <a:endParaRPr sz="2000" dirty="0">
              <a:latin typeface="Calibri"/>
              <a:cs typeface="Calibri"/>
            </a:endParaRPr>
          </a:p>
          <a:p>
            <a:pPr marL="355600" marR="5080" indent="-342900" algn="just">
              <a:lnSpc>
                <a:spcPct val="150000"/>
              </a:lnSpc>
              <a:spcBef>
                <a:spcPts val="160"/>
              </a:spcBef>
              <a:buFont typeface="Arial MT"/>
              <a:buChar char="•"/>
              <a:tabLst>
                <a:tab pos="355600" algn="l"/>
              </a:tabLst>
            </a:pPr>
            <a:r>
              <a:rPr sz="2000" spc="-114" dirty="0">
                <a:latin typeface="Calibri"/>
                <a:cs typeface="Calibri"/>
              </a:rPr>
              <a:t>To</a:t>
            </a:r>
            <a:r>
              <a:rPr sz="2000" spc="-45" dirty="0">
                <a:latin typeface="Calibri"/>
                <a:cs typeface="Calibri"/>
              </a:rPr>
              <a:t> </a:t>
            </a:r>
            <a:r>
              <a:rPr sz="2000" dirty="0">
                <a:latin typeface="Calibri"/>
                <a:cs typeface="Calibri"/>
              </a:rPr>
              <a:t>analyze</a:t>
            </a:r>
            <a:r>
              <a:rPr sz="2000" spc="-135" dirty="0">
                <a:latin typeface="Calibri"/>
                <a:cs typeface="Calibri"/>
              </a:rPr>
              <a:t> </a:t>
            </a:r>
            <a:r>
              <a:rPr sz="2000" spc="-10" dirty="0">
                <a:latin typeface="Calibri"/>
                <a:cs typeface="Calibri"/>
              </a:rPr>
              <a:t>linguistic</a:t>
            </a:r>
            <a:r>
              <a:rPr sz="2000" spc="-60" dirty="0">
                <a:latin typeface="Calibri"/>
                <a:cs typeface="Calibri"/>
              </a:rPr>
              <a:t> </a:t>
            </a:r>
            <a:r>
              <a:rPr sz="2000" spc="-10" dirty="0">
                <a:latin typeface="Calibri"/>
                <a:cs typeface="Calibri"/>
              </a:rPr>
              <a:t>patterns,</a:t>
            </a:r>
            <a:r>
              <a:rPr sz="2000" spc="-70" dirty="0">
                <a:latin typeface="Calibri"/>
                <a:cs typeface="Calibri"/>
              </a:rPr>
              <a:t> </a:t>
            </a:r>
            <a:r>
              <a:rPr sz="2000" spc="-10" dirty="0">
                <a:latin typeface="Calibri"/>
                <a:cs typeface="Calibri"/>
              </a:rPr>
              <a:t>recruiter</a:t>
            </a:r>
            <a:r>
              <a:rPr sz="2000" spc="-90" dirty="0">
                <a:latin typeface="Calibri"/>
                <a:cs typeface="Calibri"/>
              </a:rPr>
              <a:t> </a:t>
            </a:r>
            <a:r>
              <a:rPr sz="2000" dirty="0">
                <a:latin typeface="Calibri"/>
                <a:cs typeface="Calibri"/>
              </a:rPr>
              <a:t>details,</a:t>
            </a:r>
            <a:r>
              <a:rPr sz="2000" spc="-65" dirty="0">
                <a:latin typeface="Calibri"/>
                <a:cs typeface="Calibri"/>
              </a:rPr>
              <a:t> </a:t>
            </a:r>
            <a:r>
              <a:rPr sz="2000" dirty="0">
                <a:latin typeface="Calibri"/>
                <a:cs typeface="Calibri"/>
              </a:rPr>
              <a:t>and</a:t>
            </a:r>
            <a:r>
              <a:rPr sz="2000" spc="-85" dirty="0">
                <a:latin typeface="Calibri"/>
                <a:cs typeface="Calibri"/>
              </a:rPr>
              <a:t> </a:t>
            </a:r>
            <a:r>
              <a:rPr sz="2000" spc="-10" dirty="0">
                <a:latin typeface="Calibri"/>
                <a:cs typeface="Calibri"/>
              </a:rPr>
              <a:t>salary information</a:t>
            </a:r>
            <a:r>
              <a:rPr sz="2000" spc="-65" dirty="0">
                <a:latin typeface="Calibri"/>
                <a:cs typeface="Calibri"/>
              </a:rPr>
              <a:t> </a:t>
            </a:r>
            <a:r>
              <a:rPr sz="2000" dirty="0">
                <a:latin typeface="Calibri"/>
                <a:cs typeface="Calibri"/>
              </a:rPr>
              <a:t>in</a:t>
            </a:r>
            <a:r>
              <a:rPr sz="2000" spc="-75" dirty="0">
                <a:latin typeface="Calibri"/>
                <a:cs typeface="Calibri"/>
              </a:rPr>
              <a:t> </a:t>
            </a:r>
            <a:r>
              <a:rPr sz="2000" dirty="0">
                <a:latin typeface="Calibri"/>
                <a:cs typeface="Calibri"/>
              </a:rPr>
              <a:t>job</a:t>
            </a:r>
            <a:r>
              <a:rPr sz="2000" spc="-40" dirty="0">
                <a:latin typeface="Calibri"/>
                <a:cs typeface="Calibri"/>
              </a:rPr>
              <a:t> </a:t>
            </a:r>
            <a:r>
              <a:rPr sz="2000" spc="-10" dirty="0">
                <a:latin typeface="Calibri"/>
                <a:cs typeface="Calibri"/>
              </a:rPr>
              <a:t>advertisements</a:t>
            </a:r>
            <a:r>
              <a:rPr lang="en-IN" sz="2000" spc="-10" dirty="0">
                <a:latin typeface="Calibri"/>
                <a:cs typeface="Calibri"/>
              </a:rPr>
              <a:t>.</a:t>
            </a:r>
          </a:p>
          <a:p>
            <a:pPr marL="355600" marR="5080" indent="-342900" algn="just">
              <a:lnSpc>
                <a:spcPct val="150000"/>
              </a:lnSpc>
              <a:spcBef>
                <a:spcPts val="160"/>
              </a:spcBef>
              <a:buFont typeface="Arial MT"/>
              <a:buChar char="•"/>
              <a:tabLst>
                <a:tab pos="355600" algn="l"/>
              </a:tabLst>
            </a:pPr>
            <a:r>
              <a:rPr lang="en-US" sz="2000" dirty="0">
                <a:latin typeface="Calibri"/>
                <a:cs typeface="Calibri"/>
              </a:rPr>
              <a:t>To create a user-friendly platform for quick job verification.</a:t>
            </a:r>
            <a:endParaRPr sz="2000" dirty="0">
              <a:latin typeface="Calibri"/>
              <a:cs typeface="Calibri"/>
            </a:endParaRPr>
          </a:p>
          <a:p>
            <a:pPr marL="355600" marR="945515" indent="-342900" algn="just">
              <a:lnSpc>
                <a:spcPct val="150000"/>
              </a:lnSpc>
              <a:spcBef>
                <a:spcPts val="670"/>
              </a:spcBef>
              <a:buFont typeface="Arial MT"/>
              <a:buChar char="•"/>
              <a:tabLst>
                <a:tab pos="355600" algn="l"/>
              </a:tabLst>
            </a:pPr>
            <a:r>
              <a:rPr sz="2000" spc="-90" dirty="0">
                <a:latin typeface="Calibri"/>
                <a:cs typeface="Calibri"/>
              </a:rPr>
              <a:t>To</a:t>
            </a:r>
            <a:r>
              <a:rPr sz="2000" spc="-70" dirty="0">
                <a:latin typeface="Calibri"/>
                <a:cs typeface="Calibri"/>
              </a:rPr>
              <a:t> </a:t>
            </a:r>
            <a:r>
              <a:rPr sz="2000" dirty="0">
                <a:latin typeface="Calibri"/>
                <a:cs typeface="Calibri"/>
              </a:rPr>
              <a:t>develop</a:t>
            </a:r>
            <a:r>
              <a:rPr sz="2000" spc="-70" dirty="0">
                <a:latin typeface="Calibri"/>
                <a:cs typeface="Calibri"/>
              </a:rPr>
              <a:t> </a:t>
            </a:r>
            <a:r>
              <a:rPr sz="2000" dirty="0">
                <a:latin typeface="Calibri"/>
                <a:cs typeface="Calibri"/>
              </a:rPr>
              <a:t>a</a:t>
            </a:r>
            <a:r>
              <a:rPr sz="2000" spc="-75" dirty="0">
                <a:latin typeface="Calibri"/>
                <a:cs typeface="Calibri"/>
              </a:rPr>
              <a:t> </a:t>
            </a:r>
            <a:r>
              <a:rPr sz="2000" dirty="0">
                <a:latin typeface="Calibri"/>
                <a:cs typeface="Calibri"/>
              </a:rPr>
              <a:t>risk</a:t>
            </a:r>
            <a:r>
              <a:rPr sz="2000" spc="-55" dirty="0">
                <a:latin typeface="Calibri"/>
                <a:cs typeface="Calibri"/>
              </a:rPr>
              <a:t> </a:t>
            </a:r>
            <a:r>
              <a:rPr sz="2000" dirty="0">
                <a:latin typeface="Calibri"/>
                <a:cs typeface="Calibri"/>
              </a:rPr>
              <a:t>scoring</a:t>
            </a:r>
            <a:r>
              <a:rPr sz="2000" spc="-80" dirty="0">
                <a:latin typeface="Calibri"/>
                <a:cs typeface="Calibri"/>
              </a:rPr>
              <a:t> </a:t>
            </a:r>
            <a:r>
              <a:rPr sz="2000" spc="-10" dirty="0">
                <a:latin typeface="Calibri"/>
                <a:cs typeface="Calibri"/>
              </a:rPr>
              <a:t>system</a:t>
            </a:r>
            <a:r>
              <a:rPr sz="2000" spc="-60" dirty="0">
                <a:latin typeface="Calibri"/>
                <a:cs typeface="Calibri"/>
              </a:rPr>
              <a:t> </a:t>
            </a:r>
            <a:r>
              <a:rPr sz="2000" dirty="0">
                <a:latin typeface="Calibri"/>
                <a:cs typeface="Calibri"/>
              </a:rPr>
              <a:t>that</a:t>
            </a:r>
            <a:r>
              <a:rPr sz="2000" spc="-75" dirty="0">
                <a:latin typeface="Calibri"/>
                <a:cs typeface="Calibri"/>
              </a:rPr>
              <a:t> </a:t>
            </a:r>
            <a:r>
              <a:rPr sz="2000" spc="-10" dirty="0">
                <a:latin typeface="Calibri"/>
                <a:cs typeface="Calibri"/>
              </a:rPr>
              <a:t>evaluates</a:t>
            </a:r>
            <a:r>
              <a:rPr sz="2000" spc="-85" dirty="0">
                <a:latin typeface="Calibri"/>
                <a:cs typeface="Calibri"/>
              </a:rPr>
              <a:t> </a:t>
            </a:r>
            <a:r>
              <a:rPr sz="2000" spc="-25" dirty="0">
                <a:latin typeface="Calibri"/>
                <a:cs typeface="Calibri"/>
              </a:rPr>
              <a:t>the</a:t>
            </a:r>
            <a:r>
              <a:rPr lang="en-IN" sz="2000" spc="-25" dirty="0">
                <a:latin typeface="Calibri"/>
                <a:cs typeface="Calibri"/>
              </a:rPr>
              <a:t> </a:t>
            </a:r>
            <a:r>
              <a:rPr sz="2000" dirty="0">
                <a:latin typeface="Calibri"/>
                <a:cs typeface="Calibri"/>
              </a:rPr>
              <a:t>credibility</a:t>
            </a:r>
            <a:r>
              <a:rPr sz="2000" spc="-30" dirty="0">
                <a:latin typeface="Calibri"/>
                <a:cs typeface="Calibri"/>
              </a:rPr>
              <a:t> </a:t>
            </a:r>
            <a:r>
              <a:rPr sz="2000" dirty="0">
                <a:latin typeface="Calibri"/>
                <a:cs typeface="Calibri"/>
              </a:rPr>
              <a:t>of</a:t>
            </a:r>
            <a:r>
              <a:rPr sz="2000" spc="-55" dirty="0">
                <a:latin typeface="Calibri"/>
                <a:cs typeface="Calibri"/>
              </a:rPr>
              <a:t> </a:t>
            </a:r>
            <a:r>
              <a:rPr sz="2000" dirty="0">
                <a:latin typeface="Calibri"/>
                <a:cs typeface="Calibri"/>
              </a:rPr>
              <a:t>job</a:t>
            </a:r>
            <a:r>
              <a:rPr sz="2000" spc="-35" dirty="0">
                <a:latin typeface="Calibri"/>
                <a:cs typeface="Calibri"/>
              </a:rPr>
              <a:t> </a:t>
            </a:r>
            <a:r>
              <a:rPr sz="2000" spc="-10" dirty="0">
                <a:latin typeface="Calibri"/>
                <a:cs typeface="Calibri"/>
              </a:rPr>
              <a:t>postings.</a:t>
            </a:r>
            <a:endParaRPr sz="2000" dirty="0">
              <a:latin typeface="Calibri"/>
              <a:cs typeface="Calibri"/>
            </a:endParaRPr>
          </a:p>
        </p:txBody>
      </p:sp>
      <p:pic>
        <p:nvPicPr>
          <p:cNvPr id="5" name="object 5"/>
          <p:cNvPicPr/>
          <p:nvPr/>
        </p:nvPicPr>
        <p:blipFill>
          <a:blip r:embed="rId2" cstate="print"/>
          <a:stretch>
            <a:fillRect/>
          </a:stretch>
        </p:blipFill>
        <p:spPr>
          <a:xfrm>
            <a:off x="7959090" y="182879"/>
            <a:ext cx="956309" cy="731520"/>
          </a:xfrm>
          <a:prstGeom prst="rect">
            <a:avLst/>
          </a:prstGeom>
        </p:spPr>
      </p:pic>
      <p:sp>
        <p:nvSpPr>
          <p:cNvPr id="6" name="object 6"/>
          <p:cNvSpPr txBox="1">
            <a:spLocks noGrp="1"/>
          </p:cNvSpPr>
          <p:nvPr>
            <p:ph type="ftr" sz="quarter" idx="5"/>
          </p:nvPr>
        </p:nvSpPr>
        <p:spPr>
          <a:xfrm>
            <a:off x="3647694"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5</a:t>
            </a:fld>
            <a:endParaRPr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274637"/>
            <a:ext cx="7391400" cy="640080"/>
          </a:xfrm>
          <a:prstGeom prst="rect">
            <a:avLst/>
          </a:prstGeom>
          <a:ln w="25400">
            <a:solidFill>
              <a:srgbClr val="4AACC5"/>
            </a:solidFill>
          </a:ln>
        </p:spPr>
        <p:txBody>
          <a:bodyPr vert="horz" wrap="square" lIns="0" tIns="60960" rIns="0" bIns="0" rtlCol="0">
            <a:spAutoFit/>
          </a:bodyPr>
          <a:lstStyle/>
          <a:p>
            <a:pPr marL="3175" algn="ctr">
              <a:lnSpc>
                <a:spcPct val="100000"/>
              </a:lnSpc>
              <a:spcBef>
                <a:spcPts val="480"/>
              </a:spcBef>
            </a:pPr>
            <a:r>
              <a:rPr sz="3200" b="1" dirty="0">
                <a:solidFill>
                  <a:srgbClr val="C00000"/>
                </a:solidFill>
                <a:latin typeface="Calibri"/>
                <a:cs typeface="Calibri"/>
              </a:rPr>
              <a:t>Proposed</a:t>
            </a:r>
            <a:r>
              <a:rPr sz="3200" b="1" spc="-80" dirty="0">
                <a:solidFill>
                  <a:srgbClr val="C00000"/>
                </a:solidFill>
                <a:latin typeface="Calibri"/>
                <a:cs typeface="Calibri"/>
              </a:rPr>
              <a:t> </a:t>
            </a:r>
            <a:r>
              <a:rPr sz="3200" b="1" dirty="0">
                <a:solidFill>
                  <a:srgbClr val="C00000"/>
                </a:solidFill>
                <a:latin typeface="Calibri"/>
                <a:cs typeface="Calibri"/>
              </a:rPr>
              <a:t>Project</a:t>
            </a:r>
            <a:r>
              <a:rPr sz="3200" b="1" spc="-45" dirty="0">
                <a:solidFill>
                  <a:srgbClr val="C00000"/>
                </a:solidFill>
                <a:latin typeface="Calibri"/>
                <a:cs typeface="Calibri"/>
              </a:rPr>
              <a:t> </a:t>
            </a:r>
            <a:r>
              <a:rPr sz="3200" b="1" spc="-10" dirty="0">
                <a:solidFill>
                  <a:srgbClr val="C00000"/>
                </a:solidFill>
                <a:latin typeface="Calibri"/>
                <a:cs typeface="Calibri"/>
              </a:rPr>
              <a:t>Outcomes</a:t>
            </a:r>
            <a:endParaRPr sz="3200">
              <a:latin typeface="Calibri"/>
              <a:cs typeface="Calibri"/>
            </a:endParaRPr>
          </a:p>
        </p:txBody>
      </p:sp>
      <p:sp>
        <p:nvSpPr>
          <p:cNvPr id="3" name="object 3"/>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
        <p:nvSpPr>
          <p:cNvPr id="4" name="object 4"/>
          <p:cNvSpPr txBox="1"/>
          <p:nvPr/>
        </p:nvSpPr>
        <p:spPr>
          <a:xfrm>
            <a:off x="457200" y="1241806"/>
            <a:ext cx="8305800" cy="4197688"/>
          </a:xfrm>
          <a:prstGeom prst="rect">
            <a:avLst/>
          </a:prstGeom>
        </p:spPr>
        <p:txBody>
          <a:bodyPr vert="horz" wrap="square" lIns="0" tIns="13335" rIns="0" bIns="0" rtlCol="0">
            <a:spAutoFit/>
          </a:bodyPr>
          <a:lstStyle/>
          <a:p>
            <a:pPr marL="354965" indent="-342265" algn="just">
              <a:lnSpc>
                <a:spcPct val="150000"/>
              </a:lnSpc>
              <a:spcBef>
                <a:spcPts val="105"/>
              </a:spcBef>
              <a:buFont typeface="Arial MT"/>
              <a:buChar char="•"/>
              <a:tabLst>
                <a:tab pos="354965" algn="l"/>
              </a:tabLst>
            </a:pPr>
            <a:r>
              <a:rPr lang="en-US" sz="2000" dirty="0">
                <a:latin typeface="Calibri"/>
                <a:cs typeface="Calibri"/>
              </a:rPr>
              <a:t>Automates detection of fraudulent job postings, reducing manual effort and improving accuracy.</a:t>
            </a:r>
          </a:p>
          <a:p>
            <a:pPr marL="354965" indent="-342265" algn="just">
              <a:lnSpc>
                <a:spcPct val="150000"/>
              </a:lnSpc>
              <a:spcBef>
                <a:spcPts val="105"/>
              </a:spcBef>
              <a:buFont typeface="Arial MT"/>
              <a:buChar char="•"/>
              <a:tabLst>
                <a:tab pos="354965" algn="l"/>
              </a:tabLst>
            </a:pPr>
            <a:r>
              <a:rPr lang="en-US" sz="2000" dirty="0">
                <a:latin typeface="Calibri"/>
                <a:cs typeface="Calibri"/>
              </a:rPr>
              <a:t>Uses AI and NLP to analyze job content and identify scam-related patterns.</a:t>
            </a:r>
          </a:p>
          <a:p>
            <a:pPr marL="354965" indent="-342265" algn="just">
              <a:lnSpc>
                <a:spcPct val="150000"/>
              </a:lnSpc>
              <a:spcBef>
                <a:spcPts val="105"/>
              </a:spcBef>
              <a:buFont typeface="Arial MT"/>
              <a:buChar char="•"/>
              <a:tabLst>
                <a:tab pos="354965" algn="l"/>
              </a:tabLst>
            </a:pPr>
            <a:r>
              <a:rPr lang="en-US" sz="2000" dirty="0">
                <a:latin typeface="Calibri"/>
                <a:cs typeface="Calibri"/>
              </a:rPr>
              <a:t>Provides a risk score to help users assess job listing credibility.</a:t>
            </a:r>
          </a:p>
          <a:p>
            <a:pPr marL="354965" indent="-342265" algn="just">
              <a:lnSpc>
                <a:spcPct val="150000"/>
              </a:lnSpc>
              <a:spcBef>
                <a:spcPts val="105"/>
              </a:spcBef>
              <a:buFont typeface="Arial MT"/>
              <a:buChar char="•"/>
              <a:tabLst>
                <a:tab pos="354965" algn="l"/>
              </a:tabLst>
            </a:pPr>
            <a:r>
              <a:rPr lang="en-US" sz="2000" dirty="0">
                <a:latin typeface="Calibri"/>
                <a:cs typeface="Calibri"/>
              </a:rPr>
              <a:t>Offers explainable results, increasing transparency and user trust.</a:t>
            </a:r>
          </a:p>
          <a:p>
            <a:pPr marL="354965" indent="-342265" algn="just">
              <a:lnSpc>
                <a:spcPct val="150000"/>
              </a:lnSpc>
              <a:spcBef>
                <a:spcPts val="105"/>
              </a:spcBef>
              <a:buFont typeface="Arial MT"/>
              <a:buChar char="•"/>
              <a:tabLst>
                <a:tab pos="354965" algn="l"/>
              </a:tabLst>
            </a:pPr>
            <a:r>
              <a:rPr lang="en-US" sz="2000" dirty="0">
                <a:latin typeface="Calibri"/>
                <a:cs typeface="Calibri"/>
              </a:rPr>
              <a:t>Includes a user-friendly interface for quick and easy scam detection.</a:t>
            </a:r>
          </a:p>
          <a:p>
            <a:pPr marL="354965" indent="-342265" algn="just">
              <a:lnSpc>
                <a:spcPct val="150000"/>
              </a:lnSpc>
              <a:spcBef>
                <a:spcPts val="105"/>
              </a:spcBef>
              <a:buFont typeface="Arial MT"/>
              <a:buChar char="•"/>
              <a:tabLst>
                <a:tab pos="354965" algn="l"/>
              </a:tabLst>
            </a:pPr>
            <a:r>
              <a:rPr lang="en-US" sz="2000" dirty="0">
                <a:latin typeface="Calibri"/>
                <a:cs typeface="Calibri"/>
              </a:rPr>
              <a:t> Enhances safety and reliability of online job platforms.</a:t>
            </a:r>
          </a:p>
          <a:p>
            <a:pPr marL="354965" indent="-342265" algn="just">
              <a:lnSpc>
                <a:spcPct val="150000"/>
              </a:lnSpc>
              <a:spcBef>
                <a:spcPts val="105"/>
              </a:spcBef>
              <a:buFont typeface="Arial MT"/>
              <a:buChar char="•"/>
              <a:tabLst>
                <a:tab pos="354965" algn="l"/>
              </a:tabLst>
            </a:pPr>
            <a:r>
              <a:rPr lang="en-US" sz="2000" dirty="0">
                <a:latin typeface="Calibri"/>
                <a:cs typeface="Calibri"/>
              </a:rPr>
              <a:t>Continuously improves detection accuracy by learning from new data and emerging scam patterns.</a:t>
            </a:r>
            <a:endParaRPr sz="2000" dirty="0">
              <a:latin typeface="Calibri"/>
              <a:cs typeface="Calibri"/>
            </a:endParaRPr>
          </a:p>
        </p:txBody>
      </p:sp>
      <p:pic>
        <p:nvPicPr>
          <p:cNvPr id="5" name="object 5"/>
          <p:cNvPicPr/>
          <p:nvPr/>
        </p:nvPicPr>
        <p:blipFill>
          <a:blip r:embed="rId2" cstate="print"/>
          <a:stretch>
            <a:fillRect/>
          </a:stretch>
        </p:blipFill>
        <p:spPr>
          <a:xfrm>
            <a:off x="7959090" y="182879"/>
            <a:ext cx="956309" cy="731520"/>
          </a:xfrm>
          <a:prstGeom prst="rect">
            <a:avLst/>
          </a:prstGeom>
        </p:spPr>
      </p:pic>
      <p:sp>
        <p:nvSpPr>
          <p:cNvPr id="6" name="object 6"/>
          <p:cNvSpPr txBox="1">
            <a:spLocks noGrp="1"/>
          </p:cNvSpPr>
          <p:nvPr>
            <p:ph type="ftr" sz="quarter" idx="5"/>
          </p:nvPr>
        </p:nvSpPr>
        <p:spPr>
          <a:xfrm>
            <a:off x="3647694"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6</a:t>
            </a:fld>
            <a:endParaRPr spc="-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74637"/>
            <a:ext cx="7391400" cy="640080"/>
          </a:xfrm>
          <a:prstGeom prst="rect">
            <a:avLst/>
          </a:prstGeom>
          <a:ln w="25400">
            <a:solidFill>
              <a:srgbClr val="4AACC5"/>
            </a:solidFill>
          </a:ln>
        </p:spPr>
        <p:txBody>
          <a:bodyPr vert="horz" wrap="square" lIns="0" tIns="60960" rIns="0" bIns="0" rtlCol="0">
            <a:spAutoFit/>
          </a:bodyPr>
          <a:lstStyle/>
          <a:p>
            <a:pPr marL="466725">
              <a:lnSpc>
                <a:spcPct val="100000"/>
              </a:lnSpc>
              <a:spcBef>
                <a:spcPts val="480"/>
              </a:spcBef>
            </a:pPr>
            <a:r>
              <a:rPr sz="3200" spc="-10" dirty="0">
                <a:solidFill>
                  <a:srgbClr val="C00000"/>
                </a:solidFill>
              </a:rPr>
              <a:t>Software</a:t>
            </a:r>
            <a:r>
              <a:rPr sz="3200" spc="-90" dirty="0">
                <a:solidFill>
                  <a:srgbClr val="C00000"/>
                </a:solidFill>
              </a:rPr>
              <a:t> </a:t>
            </a:r>
            <a:r>
              <a:rPr sz="3200" dirty="0">
                <a:solidFill>
                  <a:srgbClr val="C00000"/>
                </a:solidFill>
              </a:rPr>
              <a:t>and</a:t>
            </a:r>
            <a:r>
              <a:rPr sz="3200" spc="-100" dirty="0">
                <a:solidFill>
                  <a:srgbClr val="C00000"/>
                </a:solidFill>
              </a:rPr>
              <a:t> </a:t>
            </a:r>
            <a:r>
              <a:rPr sz="3200" dirty="0">
                <a:solidFill>
                  <a:srgbClr val="C00000"/>
                </a:solidFill>
              </a:rPr>
              <a:t>Hardware</a:t>
            </a:r>
            <a:r>
              <a:rPr sz="3200" spc="-100" dirty="0">
                <a:solidFill>
                  <a:srgbClr val="C00000"/>
                </a:solidFill>
              </a:rPr>
              <a:t> </a:t>
            </a:r>
            <a:r>
              <a:rPr sz="3200" spc="-10" dirty="0">
                <a:solidFill>
                  <a:srgbClr val="C00000"/>
                </a:solidFill>
              </a:rPr>
              <a:t>Requirements</a:t>
            </a:r>
            <a:endParaRPr sz="3200"/>
          </a:p>
        </p:txBody>
      </p:sp>
      <p:sp>
        <p:nvSpPr>
          <p:cNvPr id="3" name="object 3"/>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
        <p:nvSpPr>
          <p:cNvPr id="4" name="object 4"/>
          <p:cNvSpPr txBox="1"/>
          <p:nvPr/>
        </p:nvSpPr>
        <p:spPr>
          <a:xfrm>
            <a:off x="307340" y="991260"/>
            <a:ext cx="7922260" cy="5409557"/>
          </a:xfrm>
          <a:prstGeom prst="rect">
            <a:avLst/>
          </a:prstGeom>
        </p:spPr>
        <p:txBody>
          <a:bodyPr vert="horz" wrap="square" lIns="0" tIns="55244" rIns="0" bIns="0" rtlCol="0">
            <a:spAutoFit/>
          </a:bodyPr>
          <a:lstStyle/>
          <a:p>
            <a:pPr marL="12700">
              <a:lnSpc>
                <a:spcPct val="100000"/>
              </a:lnSpc>
              <a:spcBef>
                <a:spcPts val="434"/>
              </a:spcBef>
            </a:pPr>
            <a:r>
              <a:rPr sz="2800" b="1" spc="-10" dirty="0">
                <a:latin typeface="Calibri"/>
                <a:cs typeface="Calibri"/>
              </a:rPr>
              <a:t>Hardware</a:t>
            </a:r>
            <a:r>
              <a:rPr sz="2800" b="1" spc="-120" dirty="0">
                <a:latin typeface="Calibri"/>
                <a:cs typeface="Calibri"/>
              </a:rPr>
              <a:t> </a:t>
            </a:r>
            <a:r>
              <a:rPr sz="2800" b="1" spc="-10" dirty="0">
                <a:latin typeface="Calibri"/>
                <a:cs typeface="Calibri"/>
              </a:rPr>
              <a:t>Requirements</a:t>
            </a:r>
            <a:endParaRPr sz="2800" dirty="0">
              <a:latin typeface="Calibri"/>
              <a:cs typeface="Calibri"/>
            </a:endParaRPr>
          </a:p>
          <a:p>
            <a:pPr marL="354965" indent="-342265">
              <a:lnSpc>
                <a:spcPct val="150000"/>
              </a:lnSpc>
              <a:spcBef>
                <a:spcPts val="335"/>
              </a:spcBef>
              <a:buFont typeface="Arial MT"/>
              <a:buChar char="•"/>
              <a:tabLst>
                <a:tab pos="354965" algn="l"/>
              </a:tabLst>
            </a:pPr>
            <a:r>
              <a:rPr sz="2000" dirty="0">
                <a:latin typeface="Calibri"/>
                <a:cs typeface="Calibri"/>
              </a:rPr>
              <a:t>Computer</a:t>
            </a:r>
            <a:r>
              <a:rPr sz="2000" spc="-65" dirty="0">
                <a:latin typeface="Calibri"/>
                <a:cs typeface="Calibri"/>
              </a:rPr>
              <a:t> </a:t>
            </a:r>
            <a:r>
              <a:rPr sz="2000" dirty="0">
                <a:latin typeface="Calibri"/>
                <a:cs typeface="Calibri"/>
              </a:rPr>
              <a:t>/</a:t>
            </a:r>
            <a:r>
              <a:rPr sz="2000" spc="-70" dirty="0">
                <a:latin typeface="Calibri"/>
                <a:cs typeface="Calibri"/>
              </a:rPr>
              <a:t> </a:t>
            </a:r>
            <a:r>
              <a:rPr sz="2000" spc="-10" dirty="0">
                <a:latin typeface="Calibri"/>
                <a:cs typeface="Calibri"/>
              </a:rPr>
              <a:t>Laptop</a:t>
            </a:r>
            <a:endParaRPr sz="2000" dirty="0">
              <a:latin typeface="Calibri"/>
              <a:cs typeface="Calibri"/>
            </a:endParaRPr>
          </a:p>
          <a:p>
            <a:pPr marL="354965" indent="-342265">
              <a:lnSpc>
                <a:spcPct val="150000"/>
              </a:lnSpc>
              <a:spcBef>
                <a:spcPts val="340"/>
              </a:spcBef>
              <a:buFont typeface="Arial MT"/>
              <a:buChar char="•"/>
              <a:tabLst>
                <a:tab pos="354965" algn="l"/>
              </a:tabLst>
            </a:pPr>
            <a:r>
              <a:rPr sz="2000" spc="-10" dirty="0">
                <a:latin typeface="Calibri"/>
                <a:cs typeface="Calibri"/>
              </a:rPr>
              <a:t>Storage:</a:t>
            </a:r>
            <a:r>
              <a:rPr sz="2000" spc="-85" dirty="0">
                <a:latin typeface="Calibri"/>
                <a:cs typeface="Calibri"/>
              </a:rPr>
              <a:t> </a:t>
            </a:r>
            <a:r>
              <a:rPr sz="2000" dirty="0">
                <a:latin typeface="Calibri"/>
                <a:cs typeface="Calibri"/>
              </a:rPr>
              <a:t>500GB</a:t>
            </a:r>
            <a:r>
              <a:rPr sz="2000" spc="-65" dirty="0">
                <a:latin typeface="Calibri"/>
                <a:cs typeface="Calibri"/>
              </a:rPr>
              <a:t> </a:t>
            </a:r>
            <a:r>
              <a:rPr sz="2000" dirty="0">
                <a:latin typeface="Calibri"/>
                <a:cs typeface="Calibri"/>
              </a:rPr>
              <a:t>Hard</a:t>
            </a:r>
            <a:r>
              <a:rPr sz="2000" spc="-75" dirty="0">
                <a:latin typeface="Calibri"/>
                <a:cs typeface="Calibri"/>
              </a:rPr>
              <a:t> </a:t>
            </a:r>
            <a:r>
              <a:rPr sz="2000" spc="-20" dirty="0">
                <a:latin typeface="Calibri"/>
                <a:cs typeface="Calibri"/>
              </a:rPr>
              <a:t>Disk</a:t>
            </a:r>
            <a:endParaRPr sz="2000" dirty="0">
              <a:latin typeface="Calibri"/>
              <a:cs typeface="Calibri"/>
            </a:endParaRPr>
          </a:p>
          <a:p>
            <a:pPr marL="354965" indent="-342265">
              <a:lnSpc>
                <a:spcPct val="150000"/>
              </a:lnSpc>
              <a:spcBef>
                <a:spcPts val="335"/>
              </a:spcBef>
              <a:buFont typeface="Arial MT"/>
              <a:buChar char="•"/>
              <a:tabLst>
                <a:tab pos="354965" algn="l"/>
              </a:tabLst>
            </a:pPr>
            <a:r>
              <a:rPr sz="2000" dirty="0">
                <a:latin typeface="Calibri"/>
                <a:cs typeface="Calibri"/>
              </a:rPr>
              <a:t>Minimum</a:t>
            </a:r>
            <a:r>
              <a:rPr sz="2000" spc="-60" dirty="0">
                <a:latin typeface="Calibri"/>
                <a:cs typeface="Calibri"/>
              </a:rPr>
              <a:t> </a:t>
            </a:r>
            <a:r>
              <a:rPr sz="2000" dirty="0">
                <a:latin typeface="Calibri"/>
                <a:cs typeface="Calibri"/>
              </a:rPr>
              <a:t>4GB</a:t>
            </a:r>
            <a:r>
              <a:rPr sz="2000" spc="-75" dirty="0">
                <a:latin typeface="Calibri"/>
                <a:cs typeface="Calibri"/>
              </a:rPr>
              <a:t> </a:t>
            </a:r>
            <a:r>
              <a:rPr sz="2000" spc="-25" dirty="0">
                <a:latin typeface="Calibri"/>
                <a:cs typeface="Calibri"/>
              </a:rPr>
              <a:t>RAM</a:t>
            </a:r>
            <a:endParaRPr sz="2000" dirty="0">
              <a:latin typeface="Calibri"/>
              <a:cs typeface="Calibri"/>
            </a:endParaRPr>
          </a:p>
          <a:p>
            <a:pPr marL="354965" indent="-342265">
              <a:lnSpc>
                <a:spcPct val="150000"/>
              </a:lnSpc>
              <a:spcBef>
                <a:spcPts val="335"/>
              </a:spcBef>
              <a:buFont typeface="Arial MT"/>
              <a:buChar char="•"/>
              <a:tabLst>
                <a:tab pos="354965" algn="l"/>
              </a:tabLst>
            </a:pPr>
            <a:r>
              <a:rPr sz="2000" spc="-10" dirty="0">
                <a:latin typeface="Calibri"/>
                <a:cs typeface="Calibri"/>
              </a:rPr>
              <a:t>Storage</a:t>
            </a:r>
            <a:r>
              <a:rPr sz="2000" spc="-100" dirty="0">
                <a:latin typeface="Calibri"/>
                <a:cs typeface="Calibri"/>
              </a:rPr>
              <a:t> </a:t>
            </a:r>
            <a:r>
              <a:rPr sz="2000" dirty="0">
                <a:latin typeface="Calibri"/>
                <a:cs typeface="Calibri"/>
              </a:rPr>
              <a:t>for</a:t>
            </a:r>
            <a:r>
              <a:rPr sz="2000" spc="-100" dirty="0">
                <a:latin typeface="Calibri"/>
                <a:cs typeface="Calibri"/>
              </a:rPr>
              <a:t> </a:t>
            </a:r>
            <a:r>
              <a:rPr sz="2000" spc="-10" dirty="0">
                <a:latin typeface="Calibri"/>
                <a:cs typeface="Calibri"/>
              </a:rPr>
              <a:t>database</a:t>
            </a:r>
            <a:endParaRPr sz="2000" dirty="0">
              <a:latin typeface="Calibri"/>
              <a:cs typeface="Calibri"/>
            </a:endParaRPr>
          </a:p>
          <a:p>
            <a:pPr marL="12700">
              <a:lnSpc>
                <a:spcPct val="100000"/>
              </a:lnSpc>
              <a:spcBef>
                <a:spcPts val="340"/>
              </a:spcBef>
            </a:pPr>
            <a:r>
              <a:rPr sz="2800" b="1" dirty="0">
                <a:latin typeface="Calibri"/>
                <a:cs typeface="Calibri"/>
              </a:rPr>
              <a:t>Software</a:t>
            </a:r>
            <a:r>
              <a:rPr sz="2800" b="1" spc="-145" dirty="0">
                <a:latin typeface="Calibri"/>
                <a:cs typeface="Calibri"/>
              </a:rPr>
              <a:t> </a:t>
            </a:r>
            <a:r>
              <a:rPr sz="2800" b="1" spc="-10" dirty="0">
                <a:latin typeface="Calibri"/>
                <a:cs typeface="Calibri"/>
              </a:rPr>
              <a:t>Requirements</a:t>
            </a:r>
            <a:endParaRPr sz="2800" dirty="0">
              <a:latin typeface="Calibri"/>
              <a:cs typeface="Calibri"/>
            </a:endParaRPr>
          </a:p>
          <a:p>
            <a:pPr marL="354965" indent="-342265">
              <a:lnSpc>
                <a:spcPct val="150000"/>
              </a:lnSpc>
              <a:spcBef>
                <a:spcPts val="335"/>
              </a:spcBef>
              <a:buFont typeface="Arial MT"/>
              <a:buChar char="•"/>
              <a:tabLst>
                <a:tab pos="354965" algn="l"/>
              </a:tabLst>
            </a:pPr>
            <a:r>
              <a:rPr sz="2000" spc="-10" dirty="0">
                <a:latin typeface="Calibri"/>
                <a:cs typeface="Calibri"/>
              </a:rPr>
              <a:t>Python</a:t>
            </a:r>
            <a:endParaRPr sz="2000" dirty="0">
              <a:latin typeface="Calibri"/>
              <a:cs typeface="Calibri"/>
            </a:endParaRPr>
          </a:p>
          <a:p>
            <a:pPr marL="354965" indent="-342265">
              <a:lnSpc>
                <a:spcPct val="150000"/>
              </a:lnSpc>
              <a:spcBef>
                <a:spcPts val="335"/>
              </a:spcBef>
              <a:buFont typeface="Arial MT"/>
              <a:buChar char="•"/>
              <a:tabLst>
                <a:tab pos="354965" algn="l"/>
              </a:tabLst>
            </a:pPr>
            <a:r>
              <a:rPr lang="en-IN" sz="2000" spc="-10" dirty="0">
                <a:latin typeface="Calibri"/>
                <a:cs typeface="Calibri"/>
              </a:rPr>
              <a:t>Google collab, </a:t>
            </a:r>
            <a:r>
              <a:rPr lang="en-IN" sz="2000" spc="-10" dirty="0" err="1">
                <a:latin typeface="Calibri"/>
                <a:cs typeface="Calibri"/>
              </a:rPr>
              <a:t>Github</a:t>
            </a:r>
            <a:endParaRPr sz="2000" dirty="0">
              <a:latin typeface="Calibri"/>
              <a:cs typeface="Calibri"/>
            </a:endParaRPr>
          </a:p>
          <a:p>
            <a:pPr marL="354965" indent="-342265">
              <a:lnSpc>
                <a:spcPct val="150000"/>
              </a:lnSpc>
              <a:spcBef>
                <a:spcPts val="340"/>
              </a:spcBef>
              <a:buFont typeface="Arial MT"/>
              <a:buChar char="•"/>
              <a:tabLst>
                <a:tab pos="354965" algn="l"/>
              </a:tabLst>
            </a:pPr>
            <a:r>
              <a:rPr sz="2000" dirty="0">
                <a:latin typeface="Calibri"/>
                <a:cs typeface="Calibri"/>
              </a:rPr>
              <a:t>Pandas,</a:t>
            </a:r>
            <a:r>
              <a:rPr sz="2000" spc="-90" dirty="0">
                <a:latin typeface="Calibri"/>
                <a:cs typeface="Calibri"/>
              </a:rPr>
              <a:t> </a:t>
            </a:r>
            <a:r>
              <a:rPr sz="2000" spc="-25" dirty="0">
                <a:latin typeface="Calibri"/>
                <a:cs typeface="Calibri"/>
              </a:rPr>
              <a:t>NumPy,</a:t>
            </a:r>
            <a:r>
              <a:rPr sz="2000" spc="-75" dirty="0">
                <a:latin typeface="Calibri"/>
                <a:cs typeface="Calibri"/>
              </a:rPr>
              <a:t> </a:t>
            </a:r>
            <a:r>
              <a:rPr sz="2000" spc="-10" dirty="0">
                <a:latin typeface="Calibri"/>
                <a:cs typeface="Calibri"/>
              </a:rPr>
              <a:t>Scikit-</a:t>
            </a:r>
            <a:r>
              <a:rPr sz="2000" dirty="0">
                <a:latin typeface="Calibri"/>
                <a:cs typeface="Calibri"/>
              </a:rPr>
              <a:t>learn,</a:t>
            </a:r>
            <a:r>
              <a:rPr sz="2000" spc="-85" dirty="0">
                <a:latin typeface="Calibri"/>
                <a:cs typeface="Calibri"/>
              </a:rPr>
              <a:t> </a:t>
            </a:r>
            <a:r>
              <a:rPr sz="2000" spc="-20" dirty="0">
                <a:latin typeface="Calibri"/>
                <a:cs typeface="Calibri"/>
              </a:rPr>
              <a:t>NLTK</a:t>
            </a:r>
            <a:endParaRPr sz="2000" dirty="0">
              <a:latin typeface="Calibri"/>
              <a:cs typeface="Calibri"/>
            </a:endParaRPr>
          </a:p>
          <a:p>
            <a:pPr marL="354965" indent="-342265">
              <a:lnSpc>
                <a:spcPct val="150000"/>
              </a:lnSpc>
              <a:spcBef>
                <a:spcPts val="335"/>
              </a:spcBef>
              <a:buFont typeface="Arial MT"/>
              <a:buChar char="•"/>
              <a:tabLst>
                <a:tab pos="354965" algn="l"/>
              </a:tabLst>
            </a:pPr>
            <a:r>
              <a:rPr sz="2000" dirty="0">
                <a:latin typeface="Calibri"/>
                <a:cs typeface="Calibri"/>
              </a:rPr>
              <a:t>SQLite</a:t>
            </a:r>
            <a:r>
              <a:rPr sz="2000" spc="-65" dirty="0">
                <a:latin typeface="Calibri"/>
                <a:cs typeface="Calibri"/>
              </a:rPr>
              <a:t> </a:t>
            </a:r>
            <a:r>
              <a:rPr sz="2000" dirty="0">
                <a:latin typeface="Calibri"/>
                <a:cs typeface="Calibri"/>
              </a:rPr>
              <a:t>/</a:t>
            </a:r>
            <a:r>
              <a:rPr sz="2000" spc="-55" dirty="0">
                <a:latin typeface="Calibri"/>
                <a:cs typeface="Calibri"/>
              </a:rPr>
              <a:t> </a:t>
            </a:r>
            <a:r>
              <a:rPr sz="2000" dirty="0">
                <a:latin typeface="Calibri"/>
                <a:cs typeface="Calibri"/>
              </a:rPr>
              <a:t>MySQL</a:t>
            </a:r>
            <a:r>
              <a:rPr sz="2000" spc="-45" dirty="0">
                <a:latin typeface="Calibri"/>
                <a:cs typeface="Calibri"/>
              </a:rPr>
              <a:t> </a:t>
            </a:r>
            <a:r>
              <a:rPr sz="2000" spc="-10" dirty="0">
                <a:latin typeface="Calibri"/>
                <a:cs typeface="Calibri"/>
              </a:rPr>
              <a:t>Database</a:t>
            </a:r>
            <a:endParaRPr sz="2000" dirty="0">
              <a:latin typeface="Calibri"/>
              <a:cs typeface="Calibri"/>
            </a:endParaRPr>
          </a:p>
          <a:p>
            <a:pPr marL="354965" indent="-342265">
              <a:lnSpc>
                <a:spcPct val="150000"/>
              </a:lnSpc>
              <a:spcBef>
                <a:spcPts val="340"/>
              </a:spcBef>
              <a:buFont typeface="Arial MT"/>
              <a:buChar char="•"/>
              <a:tabLst>
                <a:tab pos="354965" algn="l"/>
              </a:tabLst>
            </a:pPr>
            <a:r>
              <a:rPr sz="2000" dirty="0">
                <a:latin typeface="Calibri"/>
                <a:cs typeface="Calibri"/>
              </a:rPr>
              <a:t>VS</a:t>
            </a:r>
            <a:r>
              <a:rPr sz="2000" spc="-25" dirty="0">
                <a:latin typeface="Calibri"/>
                <a:cs typeface="Calibri"/>
              </a:rPr>
              <a:t> </a:t>
            </a:r>
            <a:r>
              <a:rPr sz="2000" dirty="0">
                <a:latin typeface="Calibri"/>
                <a:cs typeface="Calibri"/>
              </a:rPr>
              <a:t>Code</a:t>
            </a:r>
            <a:r>
              <a:rPr sz="2000" spc="-10" dirty="0">
                <a:latin typeface="Calibri"/>
                <a:cs typeface="Calibri"/>
              </a:rPr>
              <a:t> </a:t>
            </a:r>
            <a:r>
              <a:rPr sz="2000" dirty="0">
                <a:latin typeface="Calibri"/>
                <a:cs typeface="Calibri"/>
              </a:rPr>
              <a:t>/</a:t>
            </a:r>
            <a:r>
              <a:rPr sz="2000" spc="-10" dirty="0">
                <a:latin typeface="Calibri"/>
                <a:cs typeface="Calibri"/>
              </a:rPr>
              <a:t> PyCharm</a:t>
            </a:r>
            <a:endParaRPr lang="en-IN" sz="2000" spc="-10" dirty="0">
              <a:latin typeface="Calibri"/>
              <a:cs typeface="Calibri"/>
            </a:endParaRPr>
          </a:p>
        </p:txBody>
      </p:sp>
      <p:pic>
        <p:nvPicPr>
          <p:cNvPr id="5" name="object 5"/>
          <p:cNvPicPr/>
          <p:nvPr/>
        </p:nvPicPr>
        <p:blipFill>
          <a:blip r:embed="rId2" cstate="print"/>
          <a:stretch>
            <a:fillRect/>
          </a:stretch>
        </p:blipFill>
        <p:spPr>
          <a:xfrm>
            <a:off x="7959090" y="182879"/>
            <a:ext cx="956309" cy="731520"/>
          </a:xfrm>
          <a:prstGeom prst="rect">
            <a:avLst/>
          </a:prstGeom>
        </p:spPr>
      </p:pic>
      <p:sp>
        <p:nvSpPr>
          <p:cNvPr id="6" name="object 6"/>
          <p:cNvSpPr txBox="1">
            <a:spLocks noGrp="1"/>
          </p:cNvSpPr>
          <p:nvPr>
            <p:ph type="ftr" sz="quarter" idx="5"/>
          </p:nvPr>
        </p:nvSpPr>
        <p:spPr>
          <a:xfrm>
            <a:off x="3647694"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7</a:t>
            </a:fld>
            <a:endParaRPr spc="-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74637"/>
            <a:ext cx="7391400" cy="640080"/>
          </a:xfrm>
          <a:prstGeom prst="rect">
            <a:avLst/>
          </a:prstGeom>
          <a:ln w="25400">
            <a:solidFill>
              <a:srgbClr val="4AACC5"/>
            </a:solidFill>
          </a:ln>
        </p:spPr>
        <p:txBody>
          <a:bodyPr vert="horz" wrap="square" lIns="0" tIns="60960" rIns="0" bIns="0" rtlCol="0">
            <a:spAutoFit/>
          </a:bodyPr>
          <a:lstStyle/>
          <a:p>
            <a:pPr algn="ctr">
              <a:lnSpc>
                <a:spcPct val="100000"/>
              </a:lnSpc>
              <a:spcBef>
                <a:spcPts val="480"/>
              </a:spcBef>
            </a:pPr>
            <a:r>
              <a:rPr sz="3200" dirty="0">
                <a:solidFill>
                  <a:srgbClr val="C00000"/>
                </a:solidFill>
              </a:rPr>
              <a:t>Process</a:t>
            </a:r>
            <a:r>
              <a:rPr sz="3200" spc="-65" dirty="0">
                <a:solidFill>
                  <a:srgbClr val="C00000"/>
                </a:solidFill>
              </a:rPr>
              <a:t> </a:t>
            </a:r>
            <a:r>
              <a:rPr sz="3200" spc="-10" dirty="0">
                <a:solidFill>
                  <a:srgbClr val="C00000"/>
                </a:solidFill>
              </a:rPr>
              <a:t>Model</a:t>
            </a:r>
            <a:endParaRPr sz="3200"/>
          </a:p>
        </p:txBody>
      </p:sp>
      <p:sp>
        <p:nvSpPr>
          <p:cNvPr id="3" name="object 3"/>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
        <p:nvSpPr>
          <p:cNvPr id="4" name="object 4"/>
          <p:cNvSpPr txBox="1"/>
          <p:nvPr/>
        </p:nvSpPr>
        <p:spPr>
          <a:xfrm>
            <a:off x="533400" y="1034542"/>
            <a:ext cx="7798435" cy="4814138"/>
          </a:xfrm>
          <a:prstGeom prst="rect">
            <a:avLst/>
          </a:prstGeom>
        </p:spPr>
        <p:txBody>
          <a:bodyPr vert="horz" wrap="square" lIns="0" tIns="60960" rIns="0" bIns="0" rtlCol="0">
            <a:spAutoFit/>
          </a:bodyPr>
          <a:lstStyle/>
          <a:p>
            <a:pPr marL="12700" marR="5080">
              <a:lnSpc>
                <a:spcPts val="3020"/>
              </a:lnSpc>
              <a:spcBef>
                <a:spcPts val="480"/>
              </a:spcBef>
            </a:pPr>
            <a:r>
              <a:rPr sz="2000" dirty="0">
                <a:latin typeface="Calibri"/>
                <a:cs typeface="Calibri"/>
              </a:rPr>
              <a:t>The</a:t>
            </a:r>
            <a:r>
              <a:rPr sz="2000" spc="-85" dirty="0">
                <a:latin typeface="Calibri"/>
                <a:cs typeface="Calibri"/>
              </a:rPr>
              <a:t> </a:t>
            </a:r>
            <a:r>
              <a:rPr sz="2000" dirty="0">
                <a:latin typeface="Calibri"/>
                <a:cs typeface="Calibri"/>
              </a:rPr>
              <a:t>project</a:t>
            </a:r>
            <a:r>
              <a:rPr sz="2000" spc="-65" dirty="0">
                <a:latin typeface="Calibri"/>
                <a:cs typeface="Calibri"/>
              </a:rPr>
              <a:t> </a:t>
            </a:r>
            <a:r>
              <a:rPr sz="2000" dirty="0">
                <a:latin typeface="Calibri"/>
                <a:cs typeface="Calibri"/>
              </a:rPr>
              <a:t>follows</a:t>
            </a:r>
            <a:r>
              <a:rPr sz="2000" spc="-85" dirty="0">
                <a:latin typeface="Calibri"/>
                <a:cs typeface="Calibri"/>
              </a:rPr>
              <a:t> </a:t>
            </a:r>
            <a:r>
              <a:rPr sz="2000" dirty="0">
                <a:latin typeface="Calibri"/>
                <a:cs typeface="Calibri"/>
              </a:rPr>
              <a:t>the</a:t>
            </a:r>
            <a:r>
              <a:rPr sz="2000" spc="-70" dirty="0">
                <a:latin typeface="Calibri"/>
                <a:cs typeface="Calibri"/>
              </a:rPr>
              <a:t> </a:t>
            </a:r>
            <a:r>
              <a:rPr sz="2000" dirty="0">
                <a:latin typeface="Calibri"/>
                <a:cs typeface="Calibri"/>
              </a:rPr>
              <a:t>Machine</a:t>
            </a:r>
            <a:r>
              <a:rPr sz="2000" spc="-70" dirty="0">
                <a:latin typeface="Calibri"/>
                <a:cs typeface="Calibri"/>
              </a:rPr>
              <a:t> </a:t>
            </a:r>
            <a:r>
              <a:rPr sz="2000" dirty="0">
                <a:latin typeface="Calibri"/>
                <a:cs typeface="Calibri"/>
              </a:rPr>
              <a:t>Learning</a:t>
            </a:r>
            <a:r>
              <a:rPr sz="2000" spc="-70" dirty="0">
                <a:latin typeface="Calibri"/>
                <a:cs typeface="Calibri"/>
              </a:rPr>
              <a:t> </a:t>
            </a:r>
            <a:r>
              <a:rPr sz="2000" spc="-10" dirty="0">
                <a:latin typeface="Calibri"/>
                <a:cs typeface="Calibri"/>
              </a:rPr>
              <a:t>Development Process.</a:t>
            </a:r>
            <a:endParaRPr sz="2000" dirty="0">
              <a:latin typeface="Calibri"/>
              <a:cs typeface="Calibri"/>
            </a:endParaRPr>
          </a:p>
          <a:p>
            <a:pPr marL="12700">
              <a:lnSpc>
                <a:spcPct val="100000"/>
              </a:lnSpc>
              <a:spcBef>
                <a:spcPts val="295"/>
              </a:spcBef>
            </a:pPr>
            <a:r>
              <a:rPr sz="2400" b="1" spc="-10" dirty="0">
                <a:latin typeface="Calibri"/>
                <a:cs typeface="Calibri"/>
              </a:rPr>
              <a:t>Steps:</a:t>
            </a:r>
            <a:endParaRPr sz="2400" dirty="0">
              <a:latin typeface="Calibri"/>
              <a:cs typeface="Calibri"/>
            </a:endParaRPr>
          </a:p>
          <a:p>
            <a:pPr marL="527685" indent="-514984">
              <a:lnSpc>
                <a:spcPct val="100000"/>
              </a:lnSpc>
              <a:spcBef>
                <a:spcPts val="1585"/>
              </a:spcBef>
              <a:buAutoNum type="arabicPeriod"/>
              <a:tabLst>
                <a:tab pos="527685" algn="l"/>
              </a:tabLst>
            </a:pPr>
            <a:r>
              <a:rPr sz="2000" dirty="0">
                <a:latin typeface="Calibri"/>
                <a:cs typeface="Calibri"/>
              </a:rPr>
              <a:t>Data</a:t>
            </a:r>
            <a:r>
              <a:rPr sz="2000" spc="-100" dirty="0">
                <a:latin typeface="Calibri"/>
                <a:cs typeface="Calibri"/>
              </a:rPr>
              <a:t> </a:t>
            </a:r>
            <a:r>
              <a:rPr sz="2000" spc="-10" dirty="0">
                <a:latin typeface="Calibri"/>
                <a:cs typeface="Calibri"/>
              </a:rPr>
              <a:t>Collection</a:t>
            </a:r>
            <a:endParaRPr sz="2000" dirty="0">
              <a:latin typeface="Calibri"/>
              <a:cs typeface="Calibri"/>
            </a:endParaRPr>
          </a:p>
          <a:p>
            <a:pPr marL="527685" indent="-514984">
              <a:lnSpc>
                <a:spcPct val="100000"/>
              </a:lnSpc>
              <a:spcBef>
                <a:spcPts val="2014"/>
              </a:spcBef>
              <a:buAutoNum type="arabicPeriod"/>
              <a:tabLst>
                <a:tab pos="527685" algn="l"/>
              </a:tabLst>
            </a:pPr>
            <a:r>
              <a:rPr sz="2000" dirty="0">
                <a:latin typeface="Calibri"/>
                <a:cs typeface="Calibri"/>
              </a:rPr>
              <a:t>Data</a:t>
            </a:r>
            <a:r>
              <a:rPr sz="2000" spc="-105" dirty="0">
                <a:latin typeface="Calibri"/>
                <a:cs typeface="Calibri"/>
              </a:rPr>
              <a:t> </a:t>
            </a:r>
            <a:r>
              <a:rPr sz="2000" spc="-10" dirty="0">
                <a:latin typeface="Calibri"/>
                <a:cs typeface="Calibri"/>
              </a:rPr>
              <a:t>Preprocessing</a:t>
            </a:r>
            <a:endParaRPr sz="2000" dirty="0">
              <a:latin typeface="Calibri"/>
              <a:cs typeface="Calibri"/>
            </a:endParaRPr>
          </a:p>
          <a:p>
            <a:pPr marL="527685" indent="-514984">
              <a:lnSpc>
                <a:spcPct val="100000"/>
              </a:lnSpc>
              <a:spcBef>
                <a:spcPts val="2020"/>
              </a:spcBef>
              <a:buAutoNum type="arabicPeriod"/>
              <a:tabLst>
                <a:tab pos="527685" algn="l"/>
              </a:tabLst>
            </a:pPr>
            <a:r>
              <a:rPr sz="2000" dirty="0">
                <a:latin typeface="Calibri"/>
                <a:cs typeface="Calibri"/>
              </a:rPr>
              <a:t>Feature</a:t>
            </a:r>
            <a:r>
              <a:rPr sz="2000" spc="-155" dirty="0">
                <a:latin typeface="Calibri"/>
                <a:cs typeface="Calibri"/>
              </a:rPr>
              <a:t> </a:t>
            </a:r>
            <a:r>
              <a:rPr sz="2000" spc="-10" dirty="0">
                <a:latin typeface="Calibri"/>
                <a:cs typeface="Calibri"/>
              </a:rPr>
              <a:t>Extraction</a:t>
            </a:r>
            <a:endParaRPr sz="2000" dirty="0">
              <a:latin typeface="Calibri"/>
              <a:cs typeface="Calibri"/>
            </a:endParaRPr>
          </a:p>
          <a:p>
            <a:pPr marL="527685" indent="-514984">
              <a:lnSpc>
                <a:spcPct val="100000"/>
              </a:lnSpc>
              <a:spcBef>
                <a:spcPts val="2014"/>
              </a:spcBef>
              <a:buAutoNum type="arabicPeriod"/>
              <a:tabLst>
                <a:tab pos="527685" algn="l"/>
              </a:tabLst>
            </a:pPr>
            <a:r>
              <a:rPr sz="2000" dirty="0">
                <a:latin typeface="Calibri"/>
                <a:cs typeface="Calibri"/>
              </a:rPr>
              <a:t>Model</a:t>
            </a:r>
            <a:r>
              <a:rPr sz="2000" spc="-65" dirty="0">
                <a:latin typeface="Calibri"/>
                <a:cs typeface="Calibri"/>
              </a:rPr>
              <a:t> </a:t>
            </a:r>
            <a:r>
              <a:rPr sz="2000" spc="-10" dirty="0">
                <a:latin typeface="Calibri"/>
                <a:cs typeface="Calibri"/>
              </a:rPr>
              <a:t>Training</a:t>
            </a:r>
            <a:endParaRPr sz="2000" dirty="0">
              <a:latin typeface="Calibri"/>
              <a:cs typeface="Calibri"/>
            </a:endParaRPr>
          </a:p>
          <a:p>
            <a:pPr marL="527685" indent="-514984">
              <a:lnSpc>
                <a:spcPct val="100000"/>
              </a:lnSpc>
              <a:spcBef>
                <a:spcPts val="2020"/>
              </a:spcBef>
              <a:buAutoNum type="arabicPeriod"/>
              <a:tabLst>
                <a:tab pos="527685" algn="l"/>
              </a:tabLst>
            </a:pPr>
            <a:r>
              <a:rPr sz="2000" dirty="0">
                <a:latin typeface="Calibri"/>
                <a:cs typeface="Calibri"/>
              </a:rPr>
              <a:t>Risk</a:t>
            </a:r>
            <a:r>
              <a:rPr sz="2000" spc="-40" dirty="0">
                <a:latin typeface="Calibri"/>
                <a:cs typeface="Calibri"/>
              </a:rPr>
              <a:t> </a:t>
            </a:r>
            <a:r>
              <a:rPr sz="2000" spc="-10" dirty="0">
                <a:latin typeface="Calibri"/>
                <a:cs typeface="Calibri"/>
              </a:rPr>
              <a:t>Scoring</a:t>
            </a:r>
            <a:endParaRPr lang="en-IN" sz="2000" spc="-10" dirty="0">
              <a:latin typeface="Calibri"/>
              <a:cs typeface="Calibri"/>
            </a:endParaRPr>
          </a:p>
          <a:p>
            <a:pPr marL="527685" indent="-514984">
              <a:lnSpc>
                <a:spcPct val="100000"/>
              </a:lnSpc>
              <a:spcBef>
                <a:spcPts val="2020"/>
              </a:spcBef>
              <a:buAutoNum type="arabicPeriod"/>
              <a:tabLst>
                <a:tab pos="527685" algn="l"/>
              </a:tabLst>
            </a:pPr>
            <a:r>
              <a:rPr lang="en-IN" sz="2000" spc="-10" dirty="0">
                <a:latin typeface="Calibri"/>
                <a:cs typeface="Calibri"/>
              </a:rPr>
              <a:t>Explainable AI </a:t>
            </a:r>
            <a:endParaRPr sz="2000" dirty="0">
              <a:latin typeface="Calibri"/>
              <a:cs typeface="Calibri"/>
            </a:endParaRPr>
          </a:p>
          <a:p>
            <a:pPr marL="527685" indent="-514984">
              <a:lnSpc>
                <a:spcPct val="100000"/>
              </a:lnSpc>
              <a:spcBef>
                <a:spcPts val="2014"/>
              </a:spcBef>
              <a:buAutoNum type="arabicPeriod"/>
              <a:tabLst>
                <a:tab pos="527685" algn="l"/>
              </a:tabLst>
            </a:pPr>
            <a:r>
              <a:rPr sz="2000" spc="-10" dirty="0">
                <a:latin typeface="Calibri"/>
                <a:cs typeface="Calibri"/>
              </a:rPr>
              <a:t>Prediction</a:t>
            </a:r>
            <a:endParaRPr sz="2000" dirty="0">
              <a:latin typeface="Calibri"/>
              <a:cs typeface="Calibri"/>
            </a:endParaRPr>
          </a:p>
        </p:txBody>
      </p:sp>
      <p:pic>
        <p:nvPicPr>
          <p:cNvPr id="5" name="object 5"/>
          <p:cNvPicPr/>
          <p:nvPr/>
        </p:nvPicPr>
        <p:blipFill>
          <a:blip r:embed="rId2" cstate="print"/>
          <a:stretch>
            <a:fillRect/>
          </a:stretch>
        </p:blipFill>
        <p:spPr>
          <a:xfrm>
            <a:off x="7959090" y="182879"/>
            <a:ext cx="956309" cy="731520"/>
          </a:xfrm>
          <a:prstGeom prst="rect">
            <a:avLst/>
          </a:prstGeom>
        </p:spPr>
      </p:pic>
      <p:sp>
        <p:nvSpPr>
          <p:cNvPr id="6" name="object 6"/>
          <p:cNvSpPr txBox="1">
            <a:spLocks noGrp="1"/>
          </p:cNvSpPr>
          <p:nvPr>
            <p:ph type="ftr" sz="quarter" idx="5"/>
          </p:nvPr>
        </p:nvSpPr>
        <p:spPr>
          <a:xfrm>
            <a:off x="3647694"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8</a:t>
            </a:fld>
            <a:endParaRPr spc="-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7959090" y="182879"/>
            <a:ext cx="956309" cy="731520"/>
          </a:xfrm>
          <a:prstGeom prst="rect">
            <a:avLst/>
          </a:prstGeom>
        </p:spPr>
      </p:pic>
      <p:grpSp>
        <p:nvGrpSpPr>
          <p:cNvPr id="5" name="object 5"/>
          <p:cNvGrpSpPr/>
          <p:nvPr/>
        </p:nvGrpSpPr>
        <p:grpSpPr>
          <a:xfrm>
            <a:off x="79249" y="922147"/>
            <a:ext cx="8874251" cy="5713272"/>
            <a:chOff x="117349" y="916128"/>
            <a:chExt cx="8874251" cy="5713272"/>
          </a:xfrm>
        </p:grpSpPr>
        <p:sp>
          <p:nvSpPr>
            <p:cNvPr id="6" name="object 6"/>
            <p:cNvSpPr/>
            <p:nvPr/>
          </p:nvSpPr>
          <p:spPr>
            <a:xfrm>
              <a:off x="117349" y="916128"/>
              <a:ext cx="8874251" cy="5713272"/>
            </a:xfrm>
            <a:custGeom>
              <a:avLst/>
              <a:gdLst/>
              <a:ahLst/>
              <a:cxnLst/>
              <a:rect l="l" t="t" r="r" b="b"/>
              <a:pathLst>
                <a:path w="8763000" h="5562600">
                  <a:moveTo>
                    <a:pt x="8763000" y="0"/>
                  </a:moveTo>
                  <a:lnTo>
                    <a:pt x="0" y="0"/>
                  </a:lnTo>
                  <a:lnTo>
                    <a:pt x="0" y="5562600"/>
                  </a:lnTo>
                  <a:lnTo>
                    <a:pt x="8763000" y="5562600"/>
                  </a:lnTo>
                  <a:lnTo>
                    <a:pt x="8763000" y="0"/>
                  </a:lnTo>
                  <a:close/>
                </a:path>
              </a:pathLst>
            </a:custGeom>
            <a:solidFill>
              <a:srgbClr val="FFFFFF"/>
            </a:solidFill>
          </p:spPr>
          <p:txBody>
            <a:bodyPr wrap="square" lIns="0" tIns="0" rIns="0" bIns="0" rtlCol="0"/>
            <a:lstStyle/>
            <a:p>
              <a:endParaRPr/>
            </a:p>
          </p:txBody>
        </p:sp>
        <p:sp>
          <p:nvSpPr>
            <p:cNvPr id="7" name="object 7"/>
            <p:cNvSpPr/>
            <p:nvPr/>
          </p:nvSpPr>
          <p:spPr>
            <a:xfrm>
              <a:off x="228600" y="1219200"/>
              <a:ext cx="8763000" cy="54102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grpSp>
      <p:sp>
        <p:nvSpPr>
          <p:cNvPr id="10" name="object 10"/>
          <p:cNvSpPr txBox="1"/>
          <p:nvPr/>
        </p:nvSpPr>
        <p:spPr>
          <a:xfrm>
            <a:off x="8961881" y="6601231"/>
            <a:ext cx="102870" cy="178435"/>
          </a:xfrm>
          <a:prstGeom prst="rect">
            <a:avLst/>
          </a:prstGeom>
        </p:spPr>
        <p:txBody>
          <a:bodyPr vert="horz" wrap="square" lIns="0" tIns="0" rIns="0" bIns="0" rtlCol="0">
            <a:spAutoFit/>
          </a:bodyPr>
          <a:lstStyle/>
          <a:p>
            <a:pPr marL="12700">
              <a:lnSpc>
                <a:spcPts val="1240"/>
              </a:lnSpc>
            </a:pPr>
            <a:r>
              <a:rPr sz="1200" spc="-50" dirty="0">
                <a:solidFill>
                  <a:srgbClr val="888888"/>
                </a:solidFill>
                <a:latin typeface="Calibri"/>
                <a:cs typeface="Calibri"/>
              </a:rPr>
              <a:t>9</a:t>
            </a:r>
            <a:endParaRPr sz="1200">
              <a:latin typeface="Calibri"/>
              <a:cs typeface="Calibri"/>
            </a:endParaRPr>
          </a:p>
        </p:txBody>
      </p:sp>
      <p:sp>
        <p:nvSpPr>
          <p:cNvPr id="9" name="object 9"/>
          <p:cNvSpPr txBox="1"/>
          <p:nvPr/>
        </p:nvSpPr>
        <p:spPr>
          <a:xfrm>
            <a:off x="3647694" y="6426504"/>
            <a:ext cx="2916555" cy="197490"/>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888888"/>
                </a:solidFill>
                <a:latin typeface="Calibri"/>
                <a:cs typeface="Calibri"/>
              </a:rPr>
              <a:t>DEPARTMENT</a:t>
            </a:r>
            <a:r>
              <a:rPr sz="1200" spc="-30" dirty="0">
                <a:solidFill>
                  <a:srgbClr val="888888"/>
                </a:solidFill>
                <a:latin typeface="Calibri"/>
                <a:cs typeface="Calibri"/>
              </a:rPr>
              <a:t> </a:t>
            </a:r>
            <a:r>
              <a:rPr sz="1200" dirty="0">
                <a:solidFill>
                  <a:srgbClr val="888888"/>
                </a:solidFill>
                <a:latin typeface="Calibri"/>
                <a:cs typeface="Calibri"/>
              </a:rPr>
              <a:t>OF</a:t>
            </a:r>
            <a:r>
              <a:rPr sz="1200" spc="10" dirty="0">
                <a:solidFill>
                  <a:srgbClr val="888888"/>
                </a:solidFill>
                <a:latin typeface="Calibri"/>
                <a:cs typeface="Calibri"/>
              </a:rPr>
              <a:t> </a:t>
            </a:r>
            <a:r>
              <a:rPr sz="1200" dirty="0">
                <a:solidFill>
                  <a:srgbClr val="888888"/>
                </a:solidFill>
                <a:latin typeface="Calibri"/>
                <a:cs typeface="Calibri"/>
              </a:rPr>
              <a:t>CSE</a:t>
            </a:r>
            <a:r>
              <a:rPr sz="1200" spc="-5" dirty="0">
                <a:solidFill>
                  <a:srgbClr val="888888"/>
                </a:solidFill>
                <a:latin typeface="Calibri"/>
                <a:cs typeface="Calibri"/>
              </a:rPr>
              <a:t> </a:t>
            </a:r>
            <a:r>
              <a:rPr sz="1200" dirty="0">
                <a:solidFill>
                  <a:srgbClr val="888888"/>
                </a:solidFill>
                <a:latin typeface="Calibri"/>
                <a:cs typeface="Calibri"/>
              </a:rPr>
              <a:t>MINI</a:t>
            </a:r>
            <a:r>
              <a:rPr sz="1200" spc="-20" dirty="0">
                <a:solidFill>
                  <a:srgbClr val="888888"/>
                </a:solidFill>
                <a:latin typeface="Calibri"/>
                <a:cs typeface="Calibri"/>
              </a:rPr>
              <a:t> </a:t>
            </a:r>
            <a:r>
              <a:rPr sz="1200" spc="-10" dirty="0">
                <a:solidFill>
                  <a:srgbClr val="888888"/>
                </a:solidFill>
                <a:latin typeface="Calibri"/>
                <a:cs typeface="Calibri"/>
              </a:rPr>
              <a:t>PROJECT</a:t>
            </a:r>
            <a:r>
              <a:rPr sz="1200" spc="10" dirty="0">
                <a:solidFill>
                  <a:srgbClr val="888888"/>
                </a:solidFill>
                <a:latin typeface="Calibri"/>
                <a:cs typeface="Calibri"/>
              </a:rPr>
              <a:t> </a:t>
            </a:r>
            <a:endParaRPr sz="1200" dirty="0">
              <a:latin typeface="Calibri"/>
              <a:cs typeface="Calibri"/>
            </a:endParaRPr>
          </a:p>
        </p:txBody>
      </p:sp>
      <p:pic>
        <p:nvPicPr>
          <p:cNvPr id="13" name="Picture 12">
            <a:extLst>
              <a:ext uri="{FF2B5EF4-FFF2-40B4-BE49-F238E27FC236}">
                <a16:creationId xmlns:a16="http://schemas.microsoft.com/office/drawing/2014/main" id="{62D2E071-5176-26FE-D67C-581A56EC5811}"/>
              </a:ext>
            </a:extLst>
          </p:cNvPr>
          <p:cNvPicPr>
            <a:picLocks noChangeAspect="1"/>
          </p:cNvPicPr>
          <p:nvPr/>
        </p:nvPicPr>
        <p:blipFill>
          <a:blip r:embed="rId3"/>
          <a:stretch>
            <a:fillRect/>
          </a:stretch>
        </p:blipFill>
        <p:spPr>
          <a:xfrm>
            <a:off x="2643949" y="1476145"/>
            <a:ext cx="3744849" cy="4765052"/>
          </a:xfrm>
          <a:prstGeom prst="rect">
            <a:avLst/>
          </a:prstGeom>
        </p:spPr>
      </p:pic>
      <p:sp>
        <p:nvSpPr>
          <p:cNvPr id="14" name="object 2">
            <a:extLst>
              <a:ext uri="{FF2B5EF4-FFF2-40B4-BE49-F238E27FC236}">
                <a16:creationId xmlns:a16="http://schemas.microsoft.com/office/drawing/2014/main" id="{685E7EA8-EBFB-3720-E63A-4F1522B68E84}"/>
              </a:ext>
            </a:extLst>
          </p:cNvPr>
          <p:cNvSpPr txBox="1">
            <a:spLocks/>
          </p:cNvSpPr>
          <p:nvPr/>
        </p:nvSpPr>
        <p:spPr>
          <a:xfrm>
            <a:off x="217932" y="368149"/>
            <a:ext cx="7402068" cy="553998"/>
          </a:xfrm>
          <a:prstGeom prst="rect">
            <a:avLst/>
          </a:prstGeom>
          <a:ln w="25400">
            <a:solidFill>
              <a:srgbClr val="4AACC5"/>
            </a:solidFill>
          </a:ln>
        </p:spPr>
        <p:txBody>
          <a:bodyPr vert="horz" wrap="square" lIns="0" tIns="60960" rIns="0" bIns="0" rtlCol="0">
            <a:spAutoFit/>
          </a:bodyPr>
          <a:lstStyle>
            <a:lvl1pPr>
              <a:defRPr sz="4400" b="1" i="0">
                <a:solidFill>
                  <a:schemeClr val="tx1"/>
                </a:solidFill>
                <a:latin typeface="Calibri"/>
                <a:ea typeface="+mj-ea"/>
                <a:cs typeface="Calibri"/>
              </a:defRPr>
            </a:lvl1pPr>
          </a:lstStyle>
          <a:p>
            <a:pPr algn="ctr">
              <a:spcBef>
                <a:spcPts val="480"/>
              </a:spcBef>
            </a:pPr>
            <a:r>
              <a:rPr lang="en-IN" sz="3200" spc="-10" dirty="0">
                <a:solidFill>
                  <a:srgbClr val="C00000"/>
                </a:solidFill>
              </a:rPr>
              <a:t>Architectural</a:t>
            </a:r>
            <a:r>
              <a:rPr lang="en-IN" sz="3200" spc="-95" dirty="0">
                <a:solidFill>
                  <a:srgbClr val="C00000"/>
                </a:solidFill>
              </a:rPr>
              <a:t> </a:t>
            </a:r>
            <a:r>
              <a:rPr lang="en-IN" sz="3200" spc="-10" dirty="0">
                <a:solidFill>
                  <a:srgbClr val="C00000"/>
                </a:solidFill>
              </a:rPr>
              <a:t>Diagram</a:t>
            </a:r>
            <a:endParaRPr lang="en-IN"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274637"/>
            <a:ext cx="7391400" cy="543739"/>
          </a:xfrm>
          <a:prstGeom prst="rect">
            <a:avLst/>
          </a:prstGeom>
          <a:ln w="25400">
            <a:solidFill>
              <a:srgbClr val="4AACC5"/>
            </a:solidFill>
          </a:ln>
        </p:spPr>
        <p:txBody>
          <a:bodyPr vert="horz" wrap="square" lIns="0" tIns="50800" rIns="0" bIns="0" rtlCol="0">
            <a:spAutoFit/>
          </a:bodyPr>
          <a:lstStyle/>
          <a:p>
            <a:pPr marL="330835" algn="ctr">
              <a:lnSpc>
                <a:spcPct val="100000"/>
              </a:lnSpc>
              <a:spcBef>
                <a:spcPts val="400"/>
              </a:spcBef>
            </a:pPr>
            <a:r>
              <a:rPr sz="3200" b="1" dirty="0">
                <a:solidFill>
                  <a:srgbClr val="C00000"/>
                </a:solidFill>
                <a:latin typeface="Calibri"/>
                <a:cs typeface="Calibri"/>
              </a:rPr>
              <a:t>P</a:t>
            </a:r>
            <a:r>
              <a:rPr lang="en-IN" sz="3200" b="1" dirty="0" err="1">
                <a:solidFill>
                  <a:srgbClr val="C00000"/>
                </a:solidFill>
                <a:latin typeface="Calibri"/>
                <a:cs typeface="Calibri"/>
              </a:rPr>
              <a:t>roposed</a:t>
            </a:r>
            <a:r>
              <a:rPr sz="3200" b="1" spc="-40" dirty="0">
                <a:solidFill>
                  <a:srgbClr val="C00000"/>
                </a:solidFill>
                <a:latin typeface="Calibri"/>
                <a:cs typeface="Calibri"/>
              </a:rPr>
              <a:t> </a:t>
            </a:r>
            <a:r>
              <a:rPr sz="3200" b="1" dirty="0">
                <a:solidFill>
                  <a:srgbClr val="C00000"/>
                </a:solidFill>
                <a:latin typeface="Calibri"/>
                <a:cs typeface="Calibri"/>
              </a:rPr>
              <a:t>M</a:t>
            </a:r>
            <a:r>
              <a:rPr lang="en-IN" sz="3200" b="1" dirty="0" err="1">
                <a:solidFill>
                  <a:srgbClr val="C00000"/>
                </a:solidFill>
                <a:latin typeface="Calibri"/>
                <a:cs typeface="Calibri"/>
              </a:rPr>
              <a:t>ethod</a:t>
            </a:r>
            <a:r>
              <a:rPr sz="3200" b="1" spc="-30" dirty="0">
                <a:solidFill>
                  <a:srgbClr val="C00000"/>
                </a:solidFill>
                <a:latin typeface="Calibri"/>
                <a:cs typeface="Calibri"/>
              </a:rPr>
              <a:t> </a:t>
            </a:r>
            <a:r>
              <a:rPr sz="3200" b="1" dirty="0">
                <a:solidFill>
                  <a:srgbClr val="C00000"/>
                </a:solidFill>
                <a:latin typeface="Calibri"/>
                <a:cs typeface="Calibri"/>
              </a:rPr>
              <a:t>A</a:t>
            </a:r>
            <a:r>
              <a:rPr lang="en-IN" sz="3200" b="1" dirty="0" err="1">
                <a:solidFill>
                  <a:srgbClr val="C00000"/>
                </a:solidFill>
                <a:latin typeface="Calibri"/>
                <a:cs typeface="Calibri"/>
              </a:rPr>
              <a:t>nd</a:t>
            </a:r>
            <a:r>
              <a:rPr sz="3200" b="1" spc="-25" dirty="0">
                <a:solidFill>
                  <a:srgbClr val="C00000"/>
                </a:solidFill>
                <a:latin typeface="Calibri"/>
                <a:cs typeface="Calibri"/>
              </a:rPr>
              <a:t> </a:t>
            </a:r>
            <a:r>
              <a:rPr sz="3200" b="1" spc="-10" dirty="0">
                <a:solidFill>
                  <a:srgbClr val="C00000"/>
                </a:solidFill>
                <a:latin typeface="Calibri"/>
                <a:cs typeface="Calibri"/>
              </a:rPr>
              <a:t>A</a:t>
            </a:r>
            <a:r>
              <a:rPr lang="en-IN" sz="3200" b="1" spc="-10" dirty="0" err="1">
                <a:solidFill>
                  <a:srgbClr val="C00000"/>
                </a:solidFill>
                <a:latin typeface="Calibri"/>
                <a:cs typeface="Calibri"/>
              </a:rPr>
              <a:t>lgorithms</a:t>
            </a:r>
            <a:endParaRPr sz="3200" dirty="0">
              <a:latin typeface="Calibri"/>
              <a:cs typeface="Calibri"/>
            </a:endParaRPr>
          </a:p>
        </p:txBody>
      </p:sp>
      <p:sp>
        <p:nvSpPr>
          <p:cNvPr id="3" name="object 3"/>
          <p:cNvSpPr txBox="1"/>
          <p:nvPr/>
        </p:nvSpPr>
        <p:spPr>
          <a:xfrm>
            <a:off x="381001" y="1053816"/>
            <a:ext cx="8265032" cy="4075283"/>
          </a:xfrm>
          <a:prstGeom prst="rect">
            <a:avLst/>
          </a:prstGeom>
        </p:spPr>
        <p:txBody>
          <a:bodyPr vert="horz" wrap="square" lIns="0" tIns="109855" rIns="0" bIns="0" rtlCol="0">
            <a:spAutoFit/>
          </a:bodyPr>
          <a:lstStyle/>
          <a:p>
            <a:pPr marL="12700">
              <a:lnSpc>
                <a:spcPct val="100000"/>
              </a:lnSpc>
              <a:spcBef>
                <a:spcPts val="865"/>
              </a:spcBef>
              <a:tabLst>
                <a:tab pos="354965" algn="l"/>
              </a:tabLst>
            </a:pPr>
            <a:r>
              <a:rPr lang="en-IN" sz="3200" b="1" dirty="0">
                <a:latin typeface="Calibri"/>
                <a:cs typeface="Calibri"/>
              </a:rPr>
              <a:t>Proposed Method</a:t>
            </a:r>
            <a:endParaRPr sz="3200" dirty="0">
              <a:latin typeface="Calibri"/>
              <a:cs typeface="Calibri"/>
            </a:endParaRPr>
          </a:p>
          <a:p>
            <a:pPr marL="12700" algn="just">
              <a:lnSpc>
                <a:spcPct val="150000"/>
              </a:lnSpc>
              <a:spcBef>
                <a:spcPts val="765"/>
              </a:spcBef>
              <a:tabLst>
                <a:tab pos="354965" algn="l"/>
              </a:tabLst>
            </a:pPr>
            <a:r>
              <a:rPr lang="en-US" sz="2000" spc="-60" dirty="0">
                <a:latin typeface="Calibri"/>
                <a:cs typeface="Calibri"/>
              </a:rPr>
              <a:t>The system uses an AI-based pipeline to detect job scams by analyzing job descriptions. First, job data is collected and preprocessed (cleaning text, removing </a:t>
            </a:r>
            <a:r>
              <a:rPr lang="en-US" sz="2000" spc="-60" dirty="0" err="1">
                <a:latin typeface="Calibri"/>
                <a:cs typeface="Calibri"/>
              </a:rPr>
              <a:t>stopwords</a:t>
            </a:r>
            <a:r>
              <a:rPr lang="en-US" sz="2000" spc="-60" dirty="0">
                <a:latin typeface="Calibri"/>
                <a:cs typeface="Calibri"/>
              </a:rPr>
              <a:t>, tokenization). Then, features are extracted from the text using NLP techniques. A trained machine learning model classifies the job posting as genuine or fraudulent. Finally, a risk score and explanation are generated and displayed through a user-friendly interface.</a:t>
            </a:r>
          </a:p>
          <a:p>
            <a:pPr marL="12700" algn="just">
              <a:lnSpc>
                <a:spcPct val="150000"/>
              </a:lnSpc>
              <a:spcBef>
                <a:spcPts val="765"/>
              </a:spcBef>
              <a:tabLst>
                <a:tab pos="354965" algn="l"/>
              </a:tabLst>
            </a:pPr>
            <a:endParaRPr lang="en-US" sz="2400" spc="-10" dirty="0">
              <a:latin typeface="Calibri"/>
              <a:cs typeface="Calibri"/>
            </a:endParaRPr>
          </a:p>
        </p:txBody>
      </p:sp>
      <p:pic>
        <p:nvPicPr>
          <p:cNvPr id="4" name="object 4"/>
          <p:cNvPicPr/>
          <p:nvPr/>
        </p:nvPicPr>
        <p:blipFill>
          <a:blip r:embed="rId2" cstate="print"/>
          <a:stretch>
            <a:fillRect/>
          </a:stretch>
        </p:blipFill>
        <p:spPr>
          <a:xfrm>
            <a:off x="7959090" y="182879"/>
            <a:ext cx="956309" cy="731520"/>
          </a:xfrm>
          <a:prstGeom prst="rect">
            <a:avLst/>
          </a:prstGeom>
        </p:spPr>
      </p:pic>
      <p:sp>
        <p:nvSpPr>
          <p:cNvPr id="5" name="object 5"/>
          <p:cNvSpPr txBox="1">
            <a:spLocks noGrp="1"/>
          </p:cNvSpPr>
          <p:nvPr>
            <p:ph type="ftr" sz="quarter" idx="5"/>
          </p:nvPr>
        </p:nvSpPr>
        <p:spPr>
          <a:xfrm>
            <a:off x="3647694"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10</a:t>
            </a:fld>
            <a:endParaRPr spc="-25" dirty="0"/>
          </a:p>
        </p:txBody>
      </p:sp>
      <p:sp>
        <p:nvSpPr>
          <p:cNvPr id="7" name="object 3">
            <a:extLst>
              <a:ext uri="{FF2B5EF4-FFF2-40B4-BE49-F238E27FC236}">
                <a16:creationId xmlns:a16="http://schemas.microsoft.com/office/drawing/2014/main" id="{478B97B0-1FF0-E5DB-4E2A-31294AEAA487}"/>
              </a:ext>
            </a:extLst>
          </p:cNvPr>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274637"/>
            <a:ext cx="7391400" cy="543739"/>
          </a:xfrm>
          <a:prstGeom prst="rect">
            <a:avLst/>
          </a:prstGeom>
          <a:ln w="25400">
            <a:solidFill>
              <a:srgbClr val="4AACC5"/>
            </a:solidFill>
          </a:ln>
        </p:spPr>
        <p:txBody>
          <a:bodyPr vert="horz" wrap="square" lIns="0" tIns="50800" rIns="0" bIns="0" rtlCol="0">
            <a:spAutoFit/>
          </a:bodyPr>
          <a:lstStyle/>
          <a:p>
            <a:pPr marL="330835" algn="ctr">
              <a:lnSpc>
                <a:spcPct val="100000"/>
              </a:lnSpc>
              <a:spcBef>
                <a:spcPts val="400"/>
              </a:spcBef>
            </a:pPr>
            <a:r>
              <a:rPr lang="en-IN" sz="3200" b="1" dirty="0">
                <a:solidFill>
                  <a:srgbClr val="C00000"/>
                </a:solidFill>
                <a:latin typeface="Calibri"/>
                <a:cs typeface="Calibri"/>
              </a:rPr>
              <a:t>Proposed</a:t>
            </a:r>
            <a:r>
              <a:rPr lang="en-IN" sz="3200" b="1" spc="-40" dirty="0">
                <a:solidFill>
                  <a:srgbClr val="C00000"/>
                </a:solidFill>
                <a:latin typeface="Calibri"/>
                <a:cs typeface="Calibri"/>
              </a:rPr>
              <a:t> </a:t>
            </a:r>
            <a:r>
              <a:rPr lang="en-IN" sz="3200" b="1" dirty="0">
                <a:solidFill>
                  <a:srgbClr val="C00000"/>
                </a:solidFill>
                <a:latin typeface="Calibri"/>
                <a:cs typeface="Calibri"/>
              </a:rPr>
              <a:t>Method</a:t>
            </a:r>
            <a:r>
              <a:rPr lang="en-IN" sz="3200" b="1" spc="-30" dirty="0">
                <a:solidFill>
                  <a:srgbClr val="C00000"/>
                </a:solidFill>
                <a:latin typeface="Calibri"/>
                <a:cs typeface="Calibri"/>
              </a:rPr>
              <a:t> </a:t>
            </a:r>
            <a:r>
              <a:rPr lang="en-IN" sz="3200" b="1" dirty="0">
                <a:solidFill>
                  <a:srgbClr val="C00000"/>
                </a:solidFill>
                <a:latin typeface="Calibri"/>
                <a:cs typeface="Calibri"/>
              </a:rPr>
              <a:t>And</a:t>
            </a:r>
            <a:r>
              <a:rPr lang="en-IN" sz="3200" b="1" spc="-25" dirty="0">
                <a:solidFill>
                  <a:srgbClr val="C00000"/>
                </a:solidFill>
                <a:latin typeface="Calibri"/>
                <a:cs typeface="Calibri"/>
              </a:rPr>
              <a:t> </a:t>
            </a:r>
            <a:r>
              <a:rPr lang="en-IN" sz="3200" b="1" spc="-10" dirty="0">
                <a:solidFill>
                  <a:srgbClr val="C00000"/>
                </a:solidFill>
                <a:latin typeface="Calibri"/>
                <a:cs typeface="Calibri"/>
              </a:rPr>
              <a:t>Algorithms</a:t>
            </a:r>
            <a:endParaRPr lang="en-IN" sz="3200" dirty="0">
              <a:latin typeface="Calibri"/>
              <a:cs typeface="Calibri"/>
            </a:endParaRPr>
          </a:p>
        </p:txBody>
      </p:sp>
      <p:sp>
        <p:nvSpPr>
          <p:cNvPr id="3" name="object 3"/>
          <p:cNvSpPr txBox="1"/>
          <p:nvPr/>
        </p:nvSpPr>
        <p:spPr>
          <a:xfrm>
            <a:off x="381000" y="970777"/>
            <a:ext cx="8382000" cy="5470471"/>
          </a:xfrm>
          <a:prstGeom prst="rect">
            <a:avLst/>
          </a:prstGeom>
        </p:spPr>
        <p:txBody>
          <a:bodyPr vert="horz" wrap="square" lIns="0" tIns="110489" rIns="0" bIns="0" rtlCol="0">
            <a:spAutoFit/>
          </a:bodyPr>
          <a:lstStyle/>
          <a:p>
            <a:pPr marL="12700" algn="just">
              <a:lnSpc>
                <a:spcPct val="150000"/>
              </a:lnSpc>
              <a:spcBef>
                <a:spcPts val="765"/>
              </a:spcBef>
              <a:tabLst>
                <a:tab pos="354965" algn="l"/>
              </a:tabLst>
            </a:pPr>
            <a:r>
              <a:rPr lang="en-US" sz="3200" b="1" spc="-10" dirty="0">
                <a:latin typeface="Calibri"/>
                <a:cs typeface="Calibri"/>
              </a:rPr>
              <a:t>Algorithms Used</a:t>
            </a:r>
          </a:p>
          <a:p>
            <a:pPr marL="527050" indent="-514350" algn="just">
              <a:lnSpc>
                <a:spcPct val="150000"/>
              </a:lnSpc>
              <a:spcBef>
                <a:spcPts val="765"/>
              </a:spcBef>
              <a:buAutoNum type="arabicPeriod"/>
              <a:tabLst>
                <a:tab pos="354965" algn="l"/>
              </a:tabLst>
            </a:pPr>
            <a:r>
              <a:rPr lang="en-US" sz="2000" spc="-10" dirty="0">
                <a:latin typeface="Calibri"/>
                <a:cs typeface="Calibri"/>
              </a:rPr>
              <a:t>Natural Language Processing (NLP) – for text cleaning, tokenization, and feature extraction.</a:t>
            </a:r>
          </a:p>
          <a:p>
            <a:pPr marL="527050" indent="-514350" algn="just">
              <a:lnSpc>
                <a:spcPct val="150000"/>
              </a:lnSpc>
              <a:spcBef>
                <a:spcPts val="765"/>
              </a:spcBef>
              <a:buAutoNum type="arabicPeriod"/>
              <a:tabLst>
                <a:tab pos="354965" algn="l"/>
              </a:tabLst>
            </a:pPr>
            <a:r>
              <a:rPr lang="en-US" sz="2000" spc="-10" dirty="0">
                <a:latin typeface="Calibri"/>
                <a:cs typeface="Calibri"/>
              </a:rPr>
              <a:t>TF-IDF (Term Frequency–Inverse Document Frequency) – to convert text into numerical features.</a:t>
            </a:r>
          </a:p>
          <a:p>
            <a:pPr marL="527050" indent="-514350" algn="just">
              <a:lnSpc>
                <a:spcPct val="150000"/>
              </a:lnSpc>
              <a:spcBef>
                <a:spcPts val="765"/>
              </a:spcBef>
              <a:buAutoNum type="arabicPeriod"/>
              <a:tabLst>
                <a:tab pos="354965" algn="l"/>
              </a:tabLst>
            </a:pPr>
            <a:r>
              <a:rPr lang="en-US" sz="2000" spc="-10" dirty="0">
                <a:latin typeface="Calibri"/>
                <a:cs typeface="Calibri"/>
              </a:rPr>
              <a:t>Machine Learning Classifiers – such as Logistic Regression / Naive Bayes / Random Forest for classification.</a:t>
            </a:r>
          </a:p>
          <a:p>
            <a:pPr marL="527050" indent="-514350" algn="just">
              <a:lnSpc>
                <a:spcPct val="150000"/>
              </a:lnSpc>
              <a:spcBef>
                <a:spcPts val="765"/>
              </a:spcBef>
              <a:buAutoNum type="arabicPeriod"/>
              <a:tabLst>
                <a:tab pos="354965" algn="l"/>
              </a:tabLst>
            </a:pPr>
            <a:r>
              <a:rPr lang="en-US" sz="2000" spc="-10" dirty="0">
                <a:latin typeface="Calibri"/>
                <a:cs typeface="Calibri"/>
              </a:rPr>
              <a:t>Risk Scoring Algorithm – assigns a credibility score based on model output.</a:t>
            </a:r>
          </a:p>
          <a:p>
            <a:pPr marL="527050" indent="-514350" algn="just">
              <a:lnSpc>
                <a:spcPct val="150000"/>
              </a:lnSpc>
              <a:spcBef>
                <a:spcPts val="765"/>
              </a:spcBef>
              <a:buAutoNum type="arabicPeriod"/>
              <a:tabLst>
                <a:tab pos="354965" algn="l"/>
              </a:tabLst>
            </a:pPr>
            <a:r>
              <a:rPr lang="en-US" sz="2000" spc="-10" dirty="0">
                <a:latin typeface="Calibri"/>
                <a:cs typeface="Calibri"/>
              </a:rPr>
              <a:t>Explainable AI (XAI) (e.g., LIME/SHAP) – to provide reasons behind predictions.</a:t>
            </a:r>
            <a:endParaRPr sz="2000" dirty="0">
              <a:latin typeface="Calibri"/>
              <a:cs typeface="Calibri"/>
            </a:endParaRPr>
          </a:p>
        </p:txBody>
      </p:sp>
      <p:pic>
        <p:nvPicPr>
          <p:cNvPr id="4" name="object 4"/>
          <p:cNvPicPr/>
          <p:nvPr/>
        </p:nvPicPr>
        <p:blipFill>
          <a:blip r:embed="rId2" cstate="print"/>
          <a:stretch>
            <a:fillRect/>
          </a:stretch>
        </p:blipFill>
        <p:spPr>
          <a:xfrm>
            <a:off x="7959090" y="182879"/>
            <a:ext cx="956309" cy="731520"/>
          </a:xfrm>
          <a:prstGeom prst="rect">
            <a:avLst/>
          </a:prstGeom>
        </p:spPr>
      </p:pic>
      <p:sp>
        <p:nvSpPr>
          <p:cNvPr id="5" name="object 5"/>
          <p:cNvSpPr txBox="1">
            <a:spLocks noGrp="1"/>
          </p:cNvSpPr>
          <p:nvPr>
            <p:ph type="ftr" sz="quarter" idx="5"/>
          </p:nvPr>
        </p:nvSpPr>
        <p:spPr>
          <a:xfrm>
            <a:off x="3647694"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11</a:t>
            </a:fld>
            <a:endParaRPr spc="-25" dirty="0"/>
          </a:p>
        </p:txBody>
      </p:sp>
      <p:sp>
        <p:nvSpPr>
          <p:cNvPr id="7" name="object 3">
            <a:extLst>
              <a:ext uri="{FF2B5EF4-FFF2-40B4-BE49-F238E27FC236}">
                <a16:creationId xmlns:a16="http://schemas.microsoft.com/office/drawing/2014/main" id="{960E1F0A-ECA3-0E4A-39DC-93110587BB1A}"/>
              </a:ext>
            </a:extLst>
          </p:cNvPr>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274637"/>
            <a:ext cx="7391400" cy="640080"/>
          </a:xfrm>
          <a:prstGeom prst="rect">
            <a:avLst/>
          </a:prstGeom>
          <a:ln w="25400">
            <a:solidFill>
              <a:srgbClr val="4AACC5"/>
            </a:solidFill>
          </a:ln>
        </p:spPr>
        <p:txBody>
          <a:bodyPr vert="horz" wrap="square" lIns="0" tIns="50800" rIns="0" bIns="0" rtlCol="0">
            <a:spAutoFit/>
          </a:bodyPr>
          <a:lstStyle/>
          <a:p>
            <a:pPr algn="ctr">
              <a:lnSpc>
                <a:spcPct val="100000"/>
              </a:lnSpc>
              <a:spcBef>
                <a:spcPts val="400"/>
              </a:spcBef>
            </a:pPr>
            <a:r>
              <a:rPr sz="3200" b="1" spc="-10" dirty="0">
                <a:solidFill>
                  <a:srgbClr val="C00000"/>
                </a:solidFill>
                <a:latin typeface="Calibri"/>
                <a:cs typeface="Calibri"/>
              </a:rPr>
              <a:t>Results</a:t>
            </a:r>
            <a:endParaRPr sz="3200" dirty="0">
              <a:latin typeface="Calibri"/>
              <a:cs typeface="Calibri"/>
            </a:endParaRPr>
          </a:p>
        </p:txBody>
      </p:sp>
      <p:sp>
        <p:nvSpPr>
          <p:cNvPr id="3" name="object 3"/>
          <p:cNvSpPr txBox="1"/>
          <p:nvPr/>
        </p:nvSpPr>
        <p:spPr>
          <a:xfrm>
            <a:off x="457200" y="1074165"/>
            <a:ext cx="8308975" cy="3736023"/>
          </a:xfrm>
          <a:prstGeom prst="rect">
            <a:avLst/>
          </a:prstGeom>
        </p:spPr>
        <p:txBody>
          <a:bodyPr vert="horz" wrap="square" lIns="0" tIns="13335" rIns="0" bIns="0" rtlCol="0">
            <a:spAutoFit/>
          </a:bodyPr>
          <a:lstStyle/>
          <a:p>
            <a:pPr marL="355600" marR="998855" indent="-342900" algn="just">
              <a:lnSpc>
                <a:spcPct val="150000"/>
              </a:lnSpc>
              <a:spcBef>
                <a:spcPts val="105"/>
              </a:spcBef>
              <a:buFont typeface="Arial MT"/>
              <a:buChar char="•"/>
              <a:tabLst>
                <a:tab pos="355600" algn="l"/>
              </a:tabLst>
            </a:pPr>
            <a:r>
              <a:rPr lang="en-US" sz="2000" dirty="0">
                <a:latin typeface="Calibri"/>
                <a:cs typeface="Calibri"/>
              </a:rPr>
              <a:t>High accuracy achieved in detecting fraudulent job postings.</a:t>
            </a:r>
          </a:p>
          <a:p>
            <a:pPr marL="355600" marR="998855" indent="-342900" algn="just">
              <a:lnSpc>
                <a:spcPct val="150000"/>
              </a:lnSpc>
              <a:spcBef>
                <a:spcPts val="105"/>
              </a:spcBef>
              <a:buFont typeface="Arial MT"/>
              <a:buChar char="•"/>
              <a:tabLst>
                <a:tab pos="355600" algn="l"/>
              </a:tabLst>
            </a:pPr>
            <a:r>
              <a:rPr lang="en-US" sz="2000" dirty="0">
                <a:latin typeface="Calibri"/>
                <a:cs typeface="Calibri"/>
              </a:rPr>
              <a:t>Significant reduction in manual effort and verification time.</a:t>
            </a:r>
          </a:p>
          <a:p>
            <a:pPr marL="355600" marR="998855" indent="-342900" algn="just">
              <a:lnSpc>
                <a:spcPct val="150000"/>
              </a:lnSpc>
              <a:spcBef>
                <a:spcPts val="105"/>
              </a:spcBef>
              <a:buFont typeface="Arial MT"/>
              <a:buChar char="•"/>
              <a:tabLst>
                <a:tab pos="355600" algn="l"/>
              </a:tabLst>
            </a:pPr>
            <a:r>
              <a:rPr lang="en-US" sz="2000" dirty="0">
                <a:latin typeface="Calibri"/>
                <a:cs typeface="Calibri"/>
              </a:rPr>
              <a:t> Effective identification of scam patterns like fake salaries and payment requests.</a:t>
            </a:r>
          </a:p>
          <a:p>
            <a:pPr marL="355600" marR="998855" indent="-342900" algn="just">
              <a:lnSpc>
                <a:spcPct val="150000"/>
              </a:lnSpc>
              <a:spcBef>
                <a:spcPts val="105"/>
              </a:spcBef>
              <a:buFont typeface="Arial MT"/>
              <a:buChar char="•"/>
              <a:tabLst>
                <a:tab pos="355600" algn="l"/>
              </a:tabLst>
            </a:pPr>
            <a:r>
              <a:rPr lang="en-US" sz="2000" dirty="0">
                <a:latin typeface="Calibri"/>
                <a:cs typeface="Calibri"/>
              </a:rPr>
              <a:t>Reliable risk scoring system for evaluating job credibility.</a:t>
            </a:r>
          </a:p>
          <a:p>
            <a:pPr marL="355600" marR="998855" indent="-342900" algn="just">
              <a:lnSpc>
                <a:spcPct val="150000"/>
              </a:lnSpc>
              <a:spcBef>
                <a:spcPts val="105"/>
              </a:spcBef>
              <a:buFont typeface="Arial MT"/>
              <a:buChar char="•"/>
              <a:tabLst>
                <a:tab pos="355600" algn="l"/>
              </a:tabLst>
            </a:pPr>
            <a:r>
              <a:rPr lang="en-US" sz="2000" dirty="0">
                <a:latin typeface="Calibri"/>
                <a:cs typeface="Calibri"/>
              </a:rPr>
              <a:t>Clear and interpretable results using Explainable AI techniques.</a:t>
            </a:r>
          </a:p>
          <a:p>
            <a:pPr marL="355600" marR="998855" indent="-342900" algn="just">
              <a:lnSpc>
                <a:spcPct val="150000"/>
              </a:lnSpc>
              <a:spcBef>
                <a:spcPts val="105"/>
              </a:spcBef>
              <a:buFont typeface="Arial MT"/>
              <a:buChar char="•"/>
              <a:tabLst>
                <a:tab pos="355600" algn="l"/>
              </a:tabLst>
            </a:pPr>
            <a:r>
              <a:rPr lang="en-US" sz="2000" dirty="0">
                <a:latin typeface="Calibri"/>
                <a:cs typeface="Calibri"/>
              </a:rPr>
              <a:t> Fast and real-time analysis of job descriptions.</a:t>
            </a:r>
          </a:p>
          <a:p>
            <a:pPr marL="355600" marR="998855" indent="-342900" algn="just">
              <a:lnSpc>
                <a:spcPct val="150000"/>
              </a:lnSpc>
              <a:spcBef>
                <a:spcPts val="105"/>
              </a:spcBef>
              <a:buFont typeface="Arial MT"/>
              <a:buChar char="•"/>
              <a:tabLst>
                <a:tab pos="355600" algn="l"/>
              </a:tabLst>
            </a:pPr>
            <a:r>
              <a:rPr lang="en-US" sz="2000" dirty="0">
                <a:latin typeface="Calibri"/>
                <a:cs typeface="Calibri"/>
              </a:rPr>
              <a:t>Improved user confidence and safer job search experience.</a:t>
            </a:r>
            <a:endParaRPr sz="2000" dirty="0">
              <a:latin typeface="Calibri"/>
              <a:cs typeface="Calibri"/>
            </a:endParaRPr>
          </a:p>
        </p:txBody>
      </p:sp>
      <p:pic>
        <p:nvPicPr>
          <p:cNvPr id="4" name="object 4"/>
          <p:cNvPicPr/>
          <p:nvPr/>
        </p:nvPicPr>
        <p:blipFill>
          <a:blip r:embed="rId2" cstate="print"/>
          <a:stretch>
            <a:fillRect/>
          </a:stretch>
        </p:blipFill>
        <p:spPr>
          <a:xfrm>
            <a:off x="7959090" y="182879"/>
            <a:ext cx="956309" cy="731520"/>
          </a:xfrm>
          <a:prstGeom prst="rect">
            <a:avLst/>
          </a:prstGeom>
        </p:spPr>
      </p:pic>
      <p:sp>
        <p:nvSpPr>
          <p:cNvPr id="5" name="object 5"/>
          <p:cNvSpPr txBox="1">
            <a:spLocks noGrp="1"/>
          </p:cNvSpPr>
          <p:nvPr>
            <p:ph type="ftr" sz="quarter" idx="5"/>
          </p:nvPr>
        </p:nvSpPr>
        <p:spPr>
          <a:xfrm>
            <a:off x="3647694"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12</a:t>
            </a:fld>
            <a:endParaRPr spc="-25" dirty="0"/>
          </a:p>
        </p:txBody>
      </p:sp>
      <p:sp>
        <p:nvSpPr>
          <p:cNvPr id="7" name="object 3">
            <a:extLst>
              <a:ext uri="{FF2B5EF4-FFF2-40B4-BE49-F238E27FC236}">
                <a16:creationId xmlns:a16="http://schemas.microsoft.com/office/drawing/2014/main" id="{68864BA3-A331-26DC-B884-C025A6B911B2}"/>
              </a:ext>
            </a:extLst>
          </p:cNvPr>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28B6-EA90-1B1E-FE88-15A5695E734F}"/>
              </a:ext>
            </a:extLst>
          </p:cNvPr>
          <p:cNvSpPr>
            <a:spLocks noGrp="1"/>
          </p:cNvSpPr>
          <p:nvPr>
            <p:ph type="title"/>
          </p:nvPr>
        </p:nvSpPr>
        <p:spPr>
          <a:xfrm>
            <a:off x="5303617" y="4800600"/>
            <a:ext cx="3124200" cy="553998"/>
          </a:xfrm>
        </p:spPr>
        <p:txBody>
          <a:bodyPr/>
          <a:lstStyle/>
          <a:p>
            <a:r>
              <a:rPr lang="en-IN" sz="1800" dirty="0"/>
              <a:t>Fig 2: Risk scoring of job posting</a:t>
            </a:r>
          </a:p>
        </p:txBody>
      </p:sp>
      <p:sp>
        <p:nvSpPr>
          <p:cNvPr id="3" name="object 2">
            <a:extLst>
              <a:ext uri="{FF2B5EF4-FFF2-40B4-BE49-F238E27FC236}">
                <a16:creationId xmlns:a16="http://schemas.microsoft.com/office/drawing/2014/main" id="{7BC9E567-FAE4-C3C1-434C-EC83434F1BC5}"/>
              </a:ext>
            </a:extLst>
          </p:cNvPr>
          <p:cNvSpPr txBox="1"/>
          <p:nvPr/>
        </p:nvSpPr>
        <p:spPr>
          <a:xfrm>
            <a:off x="228600" y="274637"/>
            <a:ext cx="7391400" cy="640080"/>
          </a:xfrm>
          <a:prstGeom prst="rect">
            <a:avLst/>
          </a:prstGeom>
          <a:ln w="25400">
            <a:solidFill>
              <a:srgbClr val="4AACC5"/>
            </a:solidFill>
          </a:ln>
        </p:spPr>
        <p:txBody>
          <a:bodyPr vert="horz" wrap="square" lIns="0" tIns="50800" rIns="0" bIns="0" rtlCol="0">
            <a:spAutoFit/>
          </a:bodyPr>
          <a:lstStyle/>
          <a:p>
            <a:pPr algn="ctr">
              <a:lnSpc>
                <a:spcPct val="100000"/>
              </a:lnSpc>
              <a:spcBef>
                <a:spcPts val="400"/>
              </a:spcBef>
            </a:pPr>
            <a:r>
              <a:rPr sz="3200" b="1" spc="-10" dirty="0">
                <a:solidFill>
                  <a:srgbClr val="C00000"/>
                </a:solidFill>
                <a:latin typeface="Calibri"/>
                <a:cs typeface="Calibri"/>
              </a:rPr>
              <a:t>Results</a:t>
            </a:r>
            <a:endParaRPr sz="3200" dirty="0">
              <a:latin typeface="Calibri"/>
              <a:cs typeface="Calibri"/>
            </a:endParaRPr>
          </a:p>
        </p:txBody>
      </p:sp>
      <p:pic>
        <p:nvPicPr>
          <p:cNvPr id="4" name="object 4">
            <a:extLst>
              <a:ext uri="{FF2B5EF4-FFF2-40B4-BE49-F238E27FC236}">
                <a16:creationId xmlns:a16="http://schemas.microsoft.com/office/drawing/2014/main" id="{A0E7292C-059E-211A-17F6-C01BD8FEB634}"/>
              </a:ext>
            </a:extLst>
          </p:cNvPr>
          <p:cNvPicPr/>
          <p:nvPr/>
        </p:nvPicPr>
        <p:blipFill>
          <a:blip r:embed="rId2" cstate="print"/>
          <a:stretch>
            <a:fillRect/>
          </a:stretch>
        </p:blipFill>
        <p:spPr>
          <a:xfrm>
            <a:off x="7959090" y="182879"/>
            <a:ext cx="956309" cy="731520"/>
          </a:xfrm>
          <a:prstGeom prst="rect">
            <a:avLst/>
          </a:prstGeom>
        </p:spPr>
      </p:pic>
      <p:pic>
        <p:nvPicPr>
          <p:cNvPr id="6" name="Picture 5">
            <a:extLst>
              <a:ext uri="{FF2B5EF4-FFF2-40B4-BE49-F238E27FC236}">
                <a16:creationId xmlns:a16="http://schemas.microsoft.com/office/drawing/2014/main" id="{0B19B333-9191-D925-C802-6F391A1A04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4400" y="2183791"/>
            <a:ext cx="3962400" cy="2490417"/>
          </a:xfrm>
          <a:prstGeom prst="rect">
            <a:avLst/>
          </a:prstGeom>
        </p:spPr>
      </p:pic>
      <p:pic>
        <p:nvPicPr>
          <p:cNvPr id="8" name="Picture 7">
            <a:extLst>
              <a:ext uri="{FF2B5EF4-FFF2-40B4-BE49-F238E27FC236}">
                <a16:creationId xmlns:a16="http://schemas.microsoft.com/office/drawing/2014/main" id="{BC7429E0-C248-93C1-17BB-A73C1988C8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3399" y="2183791"/>
            <a:ext cx="3962399" cy="2490417"/>
          </a:xfrm>
          <a:prstGeom prst="rect">
            <a:avLst/>
          </a:prstGeom>
        </p:spPr>
      </p:pic>
      <p:sp>
        <p:nvSpPr>
          <p:cNvPr id="9" name="Title 1">
            <a:extLst>
              <a:ext uri="{FF2B5EF4-FFF2-40B4-BE49-F238E27FC236}">
                <a16:creationId xmlns:a16="http://schemas.microsoft.com/office/drawing/2014/main" id="{062065D8-8435-625E-370D-7EB16EA0FFED}"/>
              </a:ext>
            </a:extLst>
          </p:cNvPr>
          <p:cNvSpPr txBox="1">
            <a:spLocks/>
          </p:cNvSpPr>
          <p:nvPr/>
        </p:nvSpPr>
        <p:spPr>
          <a:xfrm>
            <a:off x="1066800" y="4800600"/>
            <a:ext cx="3124200" cy="276999"/>
          </a:xfrm>
          <a:prstGeom prst="rect">
            <a:avLst/>
          </a:prstGeom>
        </p:spPr>
        <p:txBody>
          <a:bodyPr wrap="square" lIns="0" tIns="0" rIns="0" bIns="0">
            <a:spAutoFit/>
          </a:bodyPr>
          <a:lstStyle>
            <a:lvl1pPr>
              <a:defRPr sz="4400" b="1" i="0">
                <a:solidFill>
                  <a:schemeClr val="tx1"/>
                </a:solidFill>
                <a:latin typeface="Calibri"/>
                <a:ea typeface="+mj-ea"/>
                <a:cs typeface="Calibri"/>
              </a:defRPr>
            </a:lvl1pPr>
          </a:lstStyle>
          <a:p>
            <a:r>
              <a:rPr lang="en-IN" sz="1800" dirty="0"/>
              <a:t>Fig 1: Model Performance</a:t>
            </a:r>
          </a:p>
        </p:txBody>
      </p:sp>
    </p:spTree>
    <p:extLst>
      <p:ext uri="{BB962C8B-B14F-4D97-AF65-F5344CB8AC3E}">
        <p14:creationId xmlns:p14="http://schemas.microsoft.com/office/powerpoint/2010/main" val="3652698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9C5F2-B73B-6621-D33D-AC971D92BAD5}"/>
              </a:ext>
            </a:extLst>
          </p:cNvPr>
          <p:cNvSpPr>
            <a:spLocks noGrp="1"/>
          </p:cNvSpPr>
          <p:nvPr>
            <p:ph type="title"/>
          </p:nvPr>
        </p:nvSpPr>
        <p:spPr>
          <a:xfrm>
            <a:off x="685800" y="1447800"/>
            <a:ext cx="7848599" cy="923330"/>
          </a:xfrm>
        </p:spPr>
        <p:txBody>
          <a:bodyPr/>
          <a:lstStyle/>
          <a:p>
            <a:r>
              <a:rPr lang="en-IN" sz="2000" dirty="0"/>
              <a:t>Status: </a:t>
            </a:r>
            <a:r>
              <a:rPr lang="en-IN" sz="2000" b="0" dirty="0"/>
              <a:t>Applied</a:t>
            </a:r>
            <a:br>
              <a:rPr lang="en-IN" sz="2000" b="0" dirty="0"/>
            </a:br>
            <a:br>
              <a:rPr lang="en-IN" sz="2000" b="0" dirty="0"/>
            </a:br>
            <a:endParaRPr lang="en-IN" sz="2000" b="0" dirty="0"/>
          </a:p>
        </p:txBody>
      </p:sp>
      <p:sp>
        <p:nvSpPr>
          <p:cNvPr id="3" name="object 2">
            <a:extLst>
              <a:ext uri="{FF2B5EF4-FFF2-40B4-BE49-F238E27FC236}">
                <a16:creationId xmlns:a16="http://schemas.microsoft.com/office/drawing/2014/main" id="{3C763C55-EABB-FC95-1D68-38F03F87C142}"/>
              </a:ext>
            </a:extLst>
          </p:cNvPr>
          <p:cNvSpPr txBox="1"/>
          <p:nvPr/>
        </p:nvSpPr>
        <p:spPr>
          <a:xfrm>
            <a:off x="228600" y="274637"/>
            <a:ext cx="7391400" cy="543739"/>
          </a:xfrm>
          <a:prstGeom prst="rect">
            <a:avLst/>
          </a:prstGeom>
          <a:ln w="25400">
            <a:solidFill>
              <a:srgbClr val="4AACC5"/>
            </a:solidFill>
          </a:ln>
        </p:spPr>
        <p:txBody>
          <a:bodyPr vert="horz" wrap="square" lIns="0" tIns="50800" rIns="0" bIns="0" rtlCol="0">
            <a:spAutoFit/>
          </a:bodyPr>
          <a:lstStyle/>
          <a:p>
            <a:pPr algn="ctr">
              <a:lnSpc>
                <a:spcPct val="100000"/>
              </a:lnSpc>
              <a:spcBef>
                <a:spcPts val="400"/>
              </a:spcBef>
            </a:pPr>
            <a:r>
              <a:rPr sz="3200" b="1" spc="-10" dirty="0">
                <a:solidFill>
                  <a:srgbClr val="C00000"/>
                </a:solidFill>
                <a:latin typeface="Calibri"/>
                <a:cs typeface="Calibri"/>
              </a:rPr>
              <a:t>Re</a:t>
            </a:r>
            <a:r>
              <a:rPr lang="en-IN" sz="3200" b="1" spc="-10" dirty="0">
                <a:solidFill>
                  <a:srgbClr val="C00000"/>
                </a:solidFill>
                <a:latin typeface="Calibri"/>
                <a:cs typeface="Calibri"/>
              </a:rPr>
              <a:t>search Paper Acceptance</a:t>
            </a:r>
            <a:endParaRPr sz="3200" dirty="0">
              <a:latin typeface="Calibri"/>
              <a:cs typeface="Calibri"/>
            </a:endParaRPr>
          </a:p>
        </p:txBody>
      </p:sp>
      <p:pic>
        <p:nvPicPr>
          <p:cNvPr id="4" name="object 4">
            <a:extLst>
              <a:ext uri="{FF2B5EF4-FFF2-40B4-BE49-F238E27FC236}">
                <a16:creationId xmlns:a16="http://schemas.microsoft.com/office/drawing/2014/main" id="{4E4F2727-9AD0-F7C2-E5AB-1D73EA3EBF1C}"/>
              </a:ext>
            </a:extLst>
          </p:cNvPr>
          <p:cNvPicPr/>
          <p:nvPr/>
        </p:nvPicPr>
        <p:blipFill>
          <a:blip r:embed="rId2" cstate="print"/>
          <a:stretch>
            <a:fillRect/>
          </a:stretch>
        </p:blipFill>
        <p:spPr>
          <a:xfrm>
            <a:off x="7959090" y="182879"/>
            <a:ext cx="956309" cy="731520"/>
          </a:xfrm>
          <a:prstGeom prst="rect">
            <a:avLst/>
          </a:prstGeom>
        </p:spPr>
      </p:pic>
      <p:pic>
        <p:nvPicPr>
          <p:cNvPr id="6" name="Picture 5">
            <a:extLst>
              <a:ext uri="{FF2B5EF4-FFF2-40B4-BE49-F238E27FC236}">
                <a16:creationId xmlns:a16="http://schemas.microsoft.com/office/drawing/2014/main" id="{16B4AA36-2643-04FE-7CED-C6826747F7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4599" y="1752600"/>
            <a:ext cx="4191000" cy="4419599"/>
          </a:xfrm>
          <a:prstGeom prst="rect">
            <a:avLst/>
          </a:prstGeom>
        </p:spPr>
      </p:pic>
    </p:spTree>
    <p:extLst>
      <p:ext uri="{BB962C8B-B14F-4D97-AF65-F5344CB8AC3E}">
        <p14:creationId xmlns:p14="http://schemas.microsoft.com/office/powerpoint/2010/main" val="40870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274637"/>
            <a:ext cx="7391400" cy="640080"/>
          </a:xfrm>
          <a:prstGeom prst="rect">
            <a:avLst/>
          </a:prstGeom>
          <a:ln w="25400">
            <a:solidFill>
              <a:srgbClr val="4AACC5"/>
            </a:solidFill>
          </a:ln>
        </p:spPr>
        <p:txBody>
          <a:bodyPr vert="horz" wrap="square" lIns="0" tIns="50800" rIns="0" bIns="0" rtlCol="0">
            <a:spAutoFit/>
          </a:bodyPr>
          <a:lstStyle/>
          <a:p>
            <a:pPr marL="1270" algn="ctr">
              <a:lnSpc>
                <a:spcPct val="100000"/>
              </a:lnSpc>
              <a:spcBef>
                <a:spcPts val="400"/>
              </a:spcBef>
            </a:pPr>
            <a:r>
              <a:rPr sz="3200" b="1" spc="-10" dirty="0">
                <a:solidFill>
                  <a:srgbClr val="C00000"/>
                </a:solidFill>
                <a:latin typeface="Calibri"/>
                <a:cs typeface="Calibri"/>
              </a:rPr>
              <a:t>Conclusion</a:t>
            </a:r>
            <a:endParaRPr sz="3200">
              <a:latin typeface="Calibri"/>
              <a:cs typeface="Calibri"/>
            </a:endParaRPr>
          </a:p>
        </p:txBody>
      </p:sp>
      <p:sp>
        <p:nvSpPr>
          <p:cNvPr id="3" name="object 3"/>
          <p:cNvSpPr txBox="1"/>
          <p:nvPr/>
        </p:nvSpPr>
        <p:spPr>
          <a:xfrm>
            <a:off x="553720" y="1484462"/>
            <a:ext cx="8437880" cy="3399007"/>
          </a:xfrm>
          <a:prstGeom prst="rect">
            <a:avLst/>
          </a:prstGeom>
        </p:spPr>
        <p:txBody>
          <a:bodyPr vert="horz" wrap="square" lIns="0" tIns="13335" rIns="0" bIns="0" rtlCol="0">
            <a:spAutoFit/>
          </a:bodyPr>
          <a:lstStyle/>
          <a:p>
            <a:pPr marL="12700" marR="503555" algn="just">
              <a:lnSpc>
                <a:spcPct val="100000"/>
              </a:lnSpc>
              <a:spcBef>
                <a:spcPts val="105"/>
              </a:spcBef>
            </a:pPr>
            <a:r>
              <a:rPr lang="en-US" sz="2000" dirty="0">
                <a:latin typeface="Calibri"/>
                <a:cs typeface="Calibri"/>
              </a:rPr>
              <a:t>The AI-based Job Scam Detection system successfully demonstrates an effective approach to identifying fraudulent job postings with high accuracy. By integrating Natural Language Processing techniques, the system is able to analyze job descriptions and detect hidden scam patterns such as unrealistic offers and suspicious language. The implementation of a risk scoring model allows users to make informed decisions, while the use of Explainable AI ensures transparency by providing clear reasons for each prediction. Additionally, the user-friendly interface makes the system accessible and practical for everyday use. Overall, the project significantly enhances the safety, reliability, and trustworthiness of online job platforms, helping protect users from potential scams</a:t>
            </a:r>
            <a:endParaRPr sz="2000" dirty="0">
              <a:latin typeface="Calibri"/>
              <a:cs typeface="Calibri"/>
            </a:endParaRPr>
          </a:p>
        </p:txBody>
      </p:sp>
      <p:pic>
        <p:nvPicPr>
          <p:cNvPr id="4" name="object 4"/>
          <p:cNvPicPr/>
          <p:nvPr/>
        </p:nvPicPr>
        <p:blipFill>
          <a:blip r:embed="rId2" cstate="print"/>
          <a:stretch>
            <a:fillRect/>
          </a:stretch>
        </p:blipFill>
        <p:spPr>
          <a:xfrm>
            <a:off x="7959090" y="182879"/>
            <a:ext cx="956309" cy="731520"/>
          </a:xfrm>
          <a:prstGeom prst="rect">
            <a:avLst/>
          </a:prstGeom>
        </p:spPr>
      </p:pic>
      <p:sp>
        <p:nvSpPr>
          <p:cNvPr id="5" name="object 5"/>
          <p:cNvSpPr txBox="1">
            <a:spLocks noGrp="1"/>
          </p:cNvSpPr>
          <p:nvPr>
            <p:ph type="ftr" sz="quarter" idx="5"/>
          </p:nvPr>
        </p:nvSpPr>
        <p:spPr>
          <a:xfrm>
            <a:off x="3505200"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15</a:t>
            </a:fld>
            <a:endParaRPr spc="-25" dirty="0"/>
          </a:p>
        </p:txBody>
      </p:sp>
      <p:sp>
        <p:nvSpPr>
          <p:cNvPr id="7" name="object 3">
            <a:extLst>
              <a:ext uri="{FF2B5EF4-FFF2-40B4-BE49-F238E27FC236}">
                <a16:creationId xmlns:a16="http://schemas.microsoft.com/office/drawing/2014/main" id="{A245406E-F4FE-0EB9-74C4-3DAB4BF9A21F}"/>
              </a:ext>
            </a:extLst>
          </p:cNvPr>
          <p:cNvSpPr/>
          <p:nvPr/>
        </p:nvSpPr>
        <p:spPr>
          <a:xfrm>
            <a:off x="228600" y="1066800"/>
            <a:ext cx="8763000" cy="5562600"/>
          </a:xfrm>
          <a:custGeom>
            <a:avLst/>
            <a:gdLst/>
            <a:ahLst/>
            <a:cxnLst/>
            <a:rect l="l" t="t" r="r" b="b"/>
            <a:pathLst>
              <a:path w="8763000" h="5562600">
                <a:moveTo>
                  <a:pt x="0" y="5562600"/>
                </a:moveTo>
                <a:lnTo>
                  <a:pt x="8763000" y="5562600"/>
                </a:lnTo>
                <a:lnTo>
                  <a:pt x="8763000" y="0"/>
                </a:lnTo>
                <a:lnTo>
                  <a:pt x="0" y="0"/>
                </a:lnTo>
                <a:lnTo>
                  <a:pt x="0" y="5562600"/>
                </a:lnTo>
                <a:close/>
              </a:path>
            </a:pathLst>
          </a:custGeom>
          <a:ln w="25400">
            <a:solidFill>
              <a:srgbClr val="375F92"/>
            </a:solidFill>
          </a:ln>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Thank</a:t>
            </a:r>
            <a:r>
              <a:rPr spc="-10" dirty="0"/>
              <a:t> </a:t>
            </a:r>
            <a:r>
              <a:rPr spc="-105" dirty="0"/>
              <a:t>You</a:t>
            </a:r>
          </a:p>
        </p:txBody>
      </p:sp>
      <p:pic>
        <p:nvPicPr>
          <p:cNvPr id="3" name="object 3"/>
          <p:cNvPicPr/>
          <p:nvPr/>
        </p:nvPicPr>
        <p:blipFill>
          <a:blip r:embed="rId2" cstate="print"/>
          <a:stretch>
            <a:fillRect/>
          </a:stretch>
        </p:blipFill>
        <p:spPr>
          <a:xfrm>
            <a:off x="4132008" y="212851"/>
            <a:ext cx="956310" cy="731520"/>
          </a:xfrm>
          <a:prstGeom prst="rect">
            <a:avLst/>
          </a:prstGeom>
        </p:spPr>
      </p:pic>
      <p:sp>
        <p:nvSpPr>
          <p:cNvPr id="4" name="object 4"/>
          <p:cNvSpPr txBox="1">
            <a:spLocks noGrp="1"/>
          </p:cNvSpPr>
          <p:nvPr>
            <p:ph type="ftr" sz="quarter" idx="5"/>
          </p:nvPr>
        </p:nvSpPr>
        <p:spPr>
          <a:xfrm>
            <a:off x="3647694" y="6464680"/>
            <a:ext cx="2916554" cy="156068"/>
          </a:xfrm>
          <a:prstGeom prst="rect">
            <a:avLst/>
          </a:prstGeom>
        </p:spPr>
        <p:txBody>
          <a:bodyPr vert="horz" wrap="square" lIns="0" tIns="0" rIns="0" bIns="0" rtlCol="0">
            <a:spAutoFit/>
          </a:bodyPr>
          <a:lstStyle/>
          <a:p>
            <a:pPr marL="12700">
              <a:lnSpc>
                <a:spcPts val="1240"/>
              </a:lnSpc>
            </a:pPr>
            <a:r>
              <a:rPr spc="-10" dirty="0"/>
              <a:t>DEPARTMENT</a:t>
            </a:r>
            <a:r>
              <a:rPr spc="-30" dirty="0"/>
              <a:t> </a:t>
            </a:r>
            <a:r>
              <a:rPr dirty="0"/>
              <a:t>OF</a:t>
            </a:r>
            <a:r>
              <a:rPr spc="10" dirty="0"/>
              <a:t> </a:t>
            </a:r>
            <a:r>
              <a:rPr dirty="0"/>
              <a:t>CSE</a:t>
            </a:r>
            <a:r>
              <a:rPr spc="-5" dirty="0"/>
              <a:t> </a:t>
            </a:r>
            <a:r>
              <a:rPr dirty="0"/>
              <a:t>MINI</a:t>
            </a:r>
            <a:r>
              <a:rPr spc="-20" dirty="0"/>
              <a:t> </a:t>
            </a:r>
            <a:r>
              <a:rPr spc="-10" dirty="0"/>
              <a:t>PROJECT</a:t>
            </a:r>
            <a:r>
              <a:rPr spc="10" dirty="0"/>
              <a:t> </a:t>
            </a:r>
            <a:endParaRPr spc="-5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16</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TotalTime>
  <Words>952</Words>
  <Application>Microsoft Office PowerPoint</Application>
  <PresentationFormat>On-screen Show (4:3)</PresentationFormat>
  <Paragraphs>138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Arial MT</vt:lpstr>
      <vt:lpstr>Calibri</vt:lpstr>
      <vt:lpstr>Office Theme</vt:lpstr>
      <vt:lpstr>PowerPoint Presentation</vt:lpstr>
      <vt:lpstr>Mini Project Review Outlines</vt:lpstr>
      <vt:lpstr>Main Idea Of The Project</vt:lpstr>
      <vt:lpstr>Existing System Vs Proposed</vt:lpstr>
      <vt:lpstr>Proposed Project Objectives</vt:lpstr>
      <vt:lpstr>PowerPoint Presentation</vt:lpstr>
      <vt:lpstr>Software and Hardware Requirements</vt:lpstr>
      <vt:lpstr>Process Model</vt:lpstr>
      <vt:lpstr>PowerPoint Presentation</vt:lpstr>
      <vt:lpstr>PowerPoint Presentation</vt:lpstr>
      <vt:lpstr>PowerPoint Presentation</vt:lpstr>
      <vt:lpstr>PowerPoint Presentation</vt:lpstr>
      <vt:lpstr>Fig 2: Risk scoring of job posting</vt:lpstr>
      <vt:lpstr>Status: Applied  </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hari prasad m</cp:lastModifiedBy>
  <cp:revision>2</cp:revision>
  <dcterms:created xsi:type="dcterms:W3CDTF">2026-04-01T13:57:33Z</dcterms:created>
  <dcterms:modified xsi:type="dcterms:W3CDTF">2026-04-01T17:18:39Z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2026-03-15T00:00:00Z</vt:filetime>
  </property>
  <property fmtid="{D5CDD505-2E9C-101B-9397-08002B2CF9AE}" pid="3" name="Creator">
    <vt:lpwstr>Microsoft® PowerPoint® for Microsoft 365</vt:lpwstr>
  </property>
  <property fmtid="{D5CDD505-2E9C-101B-9397-08002B2CF9AE}" pid="4" name="LastSaved">
    <vt:filetime>2026-04-01T00:00:00Z</vt:filetime>
  </property>
  <property fmtid="{D5CDD505-2E9C-101B-9397-08002B2CF9AE}" pid="5" name="Producer">
    <vt:lpwstr>Microsoft® PowerPoint® for Microsoft 365</vt:lpwstr>
  </property>
</Properties>
</file>